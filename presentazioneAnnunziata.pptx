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9" r:id="rId17"/>
    <p:sldId id="271" r:id="rId18"/>
    <p:sldId id="272" r:id="rId19"/>
    <p:sldId id="273" r:id="rId20"/>
    <p:sldId id="274" r:id="rId21"/>
    <p:sldId id="275" r:id="rId22"/>
    <p:sldId id="277" r:id="rId23"/>
    <p:sldId id="278" r:id="rId24"/>
  </p:sldIdLst>
  <p:sldSz cx="9753600" cy="7315200"/>
  <p:notesSz cx="6858000" cy="9144000"/>
  <p:embeddedFontLst>
    <p:embeddedFont>
      <p:font typeface="Helvetica World" panose="020B0604020202020204" charset="-128"/>
      <p:regular r:id="rId26"/>
    </p:embeddedFont>
    <p:embeddedFont>
      <p:font typeface="Helvetica World Bold" panose="020B0604020202020204" charset="-128"/>
      <p:regular r:id="rId27"/>
    </p:embeddedFont>
    <p:embeddedFont>
      <p:font typeface="Helvetica World Bold Italics" panose="020B0604020202020204" charset="-128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D87B"/>
    <a:srgbClr val="1662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4" autoAdjust="0"/>
    <p:restoredTop sz="72810" autoAdjust="0"/>
  </p:normalViewPr>
  <p:slideViewPr>
    <p:cSldViewPr>
      <p:cViewPr varScale="1">
        <p:scale>
          <a:sx n="56" d="100"/>
          <a:sy n="56" d="100"/>
        </p:scale>
        <p:origin x="2227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73416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it-I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it-I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it-I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it-I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it-I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it-I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it-I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9DA80-82EC-991B-7D97-866DFB019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38B9B2-70D9-9F77-96AC-85F90EEEE5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DEE47-1BE7-F20C-22E2-2547BF6B0B6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0876744-2C0F-E082-B478-4739C8DD45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887729B-5B43-F3F2-622D-CC63D655B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B27A3-427E-5DCE-36E5-36B1D28B6EA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7013F-98B3-A28A-8599-EB0B067DC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054975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it-I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it-I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it-I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linkedin.com/in/v-annunziata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github.com/valered" TargetMode="External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email@studenti.unisa.it" TargetMode="Externa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v-annunziata" TargetMode="External"/><Relationship Id="rId11" Type="http://schemas.openxmlformats.org/officeDocument/2006/relationships/image" Target="../media/image9.png"/><Relationship Id="rId5" Type="http://schemas.openxmlformats.org/officeDocument/2006/relationships/hyperlink" Target="https://github.com/valered" TargetMode="External"/><Relationship Id="rId10" Type="http://schemas.openxmlformats.org/officeDocument/2006/relationships/image" Target="../media/image8.png"/><Relationship Id="rId4" Type="http://schemas.openxmlformats.org/officeDocument/2006/relationships/hyperlink" Target="mailto:email@studenti.unisa.it" TargetMode="Externa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v-annunziata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s://github.com/valered" TargetMode="External"/><Relationship Id="rId10" Type="http://schemas.openxmlformats.org/officeDocument/2006/relationships/image" Target="../media/image11.png"/><Relationship Id="rId4" Type="http://schemas.openxmlformats.org/officeDocument/2006/relationships/hyperlink" Target="mailto:email@studenti.unisa.it" TargetMode="Externa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v-annunziata" TargetMode="External"/><Relationship Id="rId11" Type="http://schemas.openxmlformats.org/officeDocument/2006/relationships/image" Target="../media/image13.png"/><Relationship Id="rId5" Type="http://schemas.openxmlformats.org/officeDocument/2006/relationships/hyperlink" Target="https://github.com/valered" TargetMode="External"/><Relationship Id="rId1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hyperlink" Target="mailto:email@studenti.unisa.it" TargetMode="External"/><Relationship Id="rId9" Type="http://schemas.openxmlformats.org/officeDocument/2006/relationships/image" Target="../media/image6.png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v-annunziata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s://github.com/valered" TargetMode="External"/><Relationship Id="rId10" Type="http://schemas.openxmlformats.org/officeDocument/2006/relationships/image" Target="../media/image16.png"/><Relationship Id="rId4" Type="http://schemas.openxmlformats.org/officeDocument/2006/relationships/hyperlink" Target="mailto:email@studenti.unisa.it" TargetMode="Externa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v-annunziata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s://github.com/valered" TargetMode="External"/><Relationship Id="rId10" Type="http://schemas.openxmlformats.org/officeDocument/2006/relationships/image" Target="../media/image17.png"/><Relationship Id="rId4" Type="http://schemas.openxmlformats.org/officeDocument/2006/relationships/hyperlink" Target="mailto:email@studenti.unisa.it" TargetMode="External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v-annunziata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s://github.com/valered" TargetMode="External"/><Relationship Id="rId10" Type="http://schemas.openxmlformats.org/officeDocument/2006/relationships/image" Target="../media/image18.png"/><Relationship Id="rId4" Type="http://schemas.openxmlformats.org/officeDocument/2006/relationships/hyperlink" Target="mailto:email@studenti.unisa.it" TargetMode="External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v-annunziata" TargetMode="External"/><Relationship Id="rId11" Type="http://schemas.openxmlformats.org/officeDocument/2006/relationships/image" Target="../media/image20.png"/><Relationship Id="rId5" Type="http://schemas.openxmlformats.org/officeDocument/2006/relationships/hyperlink" Target="https://github.com/valered" TargetMode="External"/><Relationship Id="rId10" Type="http://schemas.openxmlformats.org/officeDocument/2006/relationships/image" Target="../media/image19.png"/><Relationship Id="rId4" Type="http://schemas.openxmlformats.org/officeDocument/2006/relationships/hyperlink" Target="mailto:email@studenti.unisa.it" TargetMode="External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v-annunziata" TargetMode="External"/><Relationship Id="rId11" Type="http://schemas.openxmlformats.org/officeDocument/2006/relationships/image" Target="../media/image23.png"/><Relationship Id="rId5" Type="http://schemas.openxmlformats.org/officeDocument/2006/relationships/hyperlink" Target="https://github.com/valered" TargetMode="External"/><Relationship Id="rId10" Type="http://schemas.openxmlformats.org/officeDocument/2006/relationships/image" Target="../media/image22.png"/><Relationship Id="rId4" Type="http://schemas.openxmlformats.org/officeDocument/2006/relationships/hyperlink" Target="mailto:email@studenti.unisa.it" TargetMode="External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v-annunziata" TargetMode="External"/><Relationship Id="rId11" Type="http://schemas.openxmlformats.org/officeDocument/2006/relationships/image" Target="../media/image26.png"/><Relationship Id="rId5" Type="http://schemas.openxmlformats.org/officeDocument/2006/relationships/hyperlink" Target="https://github.com/valered" TargetMode="External"/><Relationship Id="rId10" Type="http://schemas.openxmlformats.org/officeDocument/2006/relationships/image" Target="../media/image25.png"/><Relationship Id="rId4" Type="http://schemas.openxmlformats.org/officeDocument/2006/relationships/hyperlink" Target="mailto:email@studenti.unisa.it" TargetMode="External"/><Relationship Id="rId9" Type="http://schemas.openxmlformats.org/officeDocument/2006/relationships/image" Target="../media/image6.png"/><Relationship Id="rId1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v-annunziata" TargetMode="External"/><Relationship Id="rId11" Type="http://schemas.openxmlformats.org/officeDocument/2006/relationships/image" Target="../media/image28.png"/><Relationship Id="rId5" Type="http://schemas.openxmlformats.org/officeDocument/2006/relationships/hyperlink" Target="https://github.com/valered" TargetMode="External"/><Relationship Id="rId10" Type="http://schemas.openxmlformats.org/officeDocument/2006/relationships/image" Target="../media/image25.png"/><Relationship Id="rId4" Type="http://schemas.openxmlformats.org/officeDocument/2006/relationships/hyperlink" Target="mailto:email@studenti.unisa.it" TargetMode="External"/><Relationship Id="rId9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v-annunziata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s://github.com/valered" TargetMode="External"/><Relationship Id="rId10" Type="http://schemas.openxmlformats.org/officeDocument/2006/relationships/image" Target="../media/image30.png"/><Relationship Id="rId4" Type="http://schemas.openxmlformats.org/officeDocument/2006/relationships/hyperlink" Target="mailto:email@studenti.unisa.it" TargetMode="External"/><Relationship Id="rId9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v-annunziata" TargetMode="External"/><Relationship Id="rId11" Type="http://schemas.openxmlformats.org/officeDocument/2006/relationships/image" Target="../media/image32.png"/><Relationship Id="rId5" Type="http://schemas.openxmlformats.org/officeDocument/2006/relationships/hyperlink" Target="https://github.com/valered" TargetMode="External"/><Relationship Id="rId10" Type="http://schemas.openxmlformats.org/officeDocument/2006/relationships/image" Target="../media/image31.png"/><Relationship Id="rId4" Type="http://schemas.openxmlformats.org/officeDocument/2006/relationships/hyperlink" Target="mailto:email@studenti.unisa.it" TargetMode="External"/><Relationship Id="rId9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v-annunziata" TargetMode="External"/><Relationship Id="rId11" Type="http://schemas.openxmlformats.org/officeDocument/2006/relationships/image" Target="../media/image33.png"/><Relationship Id="rId5" Type="http://schemas.openxmlformats.org/officeDocument/2006/relationships/hyperlink" Target="https://github.com/valered" TargetMode="External"/><Relationship Id="rId10" Type="http://schemas.openxmlformats.org/officeDocument/2006/relationships/image" Target="../media/image31.png"/><Relationship Id="rId4" Type="http://schemas.openxmlformats.org/officeDocument/2006/relationships/hyperlink" Target="mailto:email@studenti.unisa.it" TargetMode="External"/><Relationship Id="rId9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v-annunziata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s://github.com/valered" TargetMode="External"/><Relationship Id="rId10" Type="http://schemas.openxmlformats.org/officeDocument/2006/relationships/image" Target="../media/image35.png"/><Relationship Id="rId4" Type="http://schemas.openxmlformats.org/officeDocument/2006/relationships/hyperlink" Target="mailto:email@studenti.unisa.it" TargetMode="External"/><Relationship Id="rId9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v-annunziata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s://github.com/valered" TargetMode="External"/><Relationship Id="rId10" Type="http://schemas.openxmlformats.org/officeDocument/2006/relationships/image" Target="../media/image36.png"/><Relationship Id="rId4" Type="http://schemas.openxmlformats.org/officeDocument/2006/relationships/hyperlink" Target="mailto:email@studenti.unisa.it" TargetMode="External"/><Relationship Id="rId9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v-annunziata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s://github.com/valered" TargetMode="External"/><Relationship Id="rId10" Type="http://schemas.openxmlformats.org/officeDocument/2006/relationships/image" Target="../media/image37.png"/><Relationship Id="rId4" Type="http://schemas.openxmlformats.org/officeDocument/2006/relationships/hyperlink" Target="mailto:email@studenti.unisa.it" TargetMode="External"/><Relationship Id="rId9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v-annunziata" TargetMode="External"/><Relationship Id="rId5" Type="http://schemas.openxmlformats.org/officeDocument/2006/relationships/hyperlink" Target="https://github.com/valered" TargetMode="External"/><Relationship Id="rId10" Type="http://schemas.openxmlformats.org/officeDocument/2006/relationships/image" Target="../media/image7.png"/><Relationship Id="rId4" Type="http://schemas.openxmlformats.org/officeDocument/2006/relationships/hyperlink" Target="mailto:email@studenti.unisa.it" TargetMode="External"/><Relationship Id="rId9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v-annunziata" TargetMode="External"/><Relationship Id="rId5" Type="http://schemas.openxmlformats.org/officeDocument/2006/relationships/hyperlink" Target="https://github.com/valered" TargetMode="External"/><Relationship Id="rId10" Type="http://schemas.openxmlformats.org/officeDocument/2006/relationships/image" Target="../media/image7.png"/><Relationship Id="rId4" Type="http://schemas.openxmlformats.org/officeDocument/2006/relationships/hyperlink" Target="mailto:email@studenti.unisa.it" TargetMode="External"/><Relationship Id="rId9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v-annunziata" TargetMode="External"/><Relationship Id="rId5" Type="http://schemas.openxmlformats.org/officeDocument/2006/relationships/hyperlink" Target="https://github.com/valered" TargetMode="External"/><Relationship Id="rId10" Type="http://schemas.openxmlformats.org/officeDocument/2006/relationships/image" Target="../media/image7.png"/><Relationship Id="rId4" Type="http://schemas.openxmlformats.org/officeDocument/2006/relationships/hyperlink" Target="mailto:email@studenti.unisa.it" TargetMode="External"/><Relationship Id="rId9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v-annunziata" TargetMode="External"/><Relationship Id="rId11" Type="http://schemas.openxmlformats.org/officeDocument/2006/relationships/image" Target="../media/image39.png"/><Relationship Id="rId5" Type="http://schemas.openxmlformats.org/officeDocument/2006/relationships/hyperlink" Target="https://github.com/valered" TargetMode="External"/><Relationship Id="rId10" Type="http://schemas.openxmlformats.org/officeDocument/2006/relationships/image" Target="../media/image38.png"/><Relationship Id="rId4" Type="http://schemas.openxmlformats.org/officeDocument/2006/relationships/hyperlink" Target="mailto:email@studenti.unisa.it" TargetMode="External"/><Relationship Id="rId9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v-annunziata" TargetMode="External"/><Relationship Id="rId11" Type="http://schemas.openxmlformats.org/officeDocument/2006/relationships/image" Target="../media/image41.png"/><Relationship Id="rId5" Type="http://schemas.openxmlformats.org/officeDocument/2006/relationships/hyperlink" Target="https://github.com/valered" TargetMode="External"/><Relationship Id="rId10" Type="http://schemas.openxmlformats.org/officeDocument/2006/relationships/image" Target="../media/image40.png"/><Relationship Id="rId4" Type="http://schemas.openxmlformats.org/officeDocument/2006/relationships/hyperlink" Target="mailto:email@studenti.unisa.it" TargetMode="External"/><Relationship Id="rId9" Type="http://schemas.openxmlformats.org/officeDocument/2006/relationships/image" Target="../media/image6.png"/><Relationship Id="rId1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8.png"/><Relationship Id="rId3" Type="http://schemas.openxmlformats.org/officeDocument/2006/relationships/hyperlink" Target="mailto:email@studenti.unisa.it" TargetMode="External"/><Relationship Id="rId7" Type="http://schemas.openxmlformats.org/officeDocument/2006/relationships/image" Target="../media/image5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6.png"/><Relationship Id="rId5" Type="http://schemas.openxmlformats.org/officeDocument/2006/relationships/hyperlink" Target="http://www.linkedin.com/in/v-annunziata" TargetMode="External"/><Relationship Id="rId10" Type="http://schemas.openxmlformats.org/officeDocument/2006/relationships/image" Target="../media/image46.png"/><Relationship Id="rId4" Type="http://schemas.openxmlformats.org/officeDocument/2006/relationships/hyperlink" Target="https://github.com/valered" TargetMode="External"/><Relationship Id="rId9" Type="http://schemas.openxmlformats.org/officeDocument/2006/relationships/image" Target="../media/image45.png"/><Relationship Id="rId1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60796" y="2057743"/>
            <a:ext cx="8632009" cy="2300650"/>
            <a:chOff x="0" y="0"/>
            <a:chExt cx="11509345" cy="30675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509345" cy="3067533"/>
            </a:xfrm>
            <a:custGeom>
              <a:avLst/>
              <a:gdLst/>
              <a:ahLst/>
              <a:cxnLst/>
              <a:rect l="l" t="t" r="r" b="b"/>
              <a:pathLst>
                <a:path w="11509345" h="3067533">
                  <a:moveTo>
                    <a:pt x="0" y="0"/>
                  </a:moveTo>
                  <a:lnTo>
                    <a:pt x="11509345" y="0"/>
                  </a:lnTo>
                  <a:lnTo>
                    <a:pt x="11509345" y="3067533"/>
                  </a:lnTo>
                  <a:lnTo>
                    <a:pt x="0" y="30675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76200"/>
              <a:ext cx="11509345" cy="299133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3312"/>
                </a:lnSpc>
              </a:pPr>
              <a:r>
                <a:rPr lang="en-US" sz="3450" b="1" spc="-149">
                  <a:solidFill>
                    <a:srgbClr val="30303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Riproducibilità, analisi comparativa e stabilità dei modelli neurali per la generazione automatica di messaggi di commit</a:t>
              </a:r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12" name="Freeform 12" descr="image2.png"/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1778" y="128069"/>
            <a:ext cx="765514" cy="765515"/>
            <a:chOff x="0" y="0"/>
            <a:chExt cx="1020685" cy="102068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20699" cy="1020699"/>
            </a:xfrm>
            <a:custGeom>
              <a:avLst/>
              <a:gdLst/>
              <a:ahLst/>
              <a:cxnLst/>
              <a:rect l="l" t="t" r="r" b="b"/>
              <a:pathLst>
                <a:path w="1020699" h="1020699">
                  <a:moveTo>
                    <a:pt x="0" y="510286"/>
                  </a:moveTo>
                  <a:cubicBezTo>
                    <a:pt x="0" y="228473"/>
                    <a:pt x="228473" y="0"/>
                    <a:pt x="510286" y="0"/>
                  </a:cubicBezTo>
                  <a:cubicBezTo>
                    <a:pt x="792099" y="0"/>
                    <a:pt x="1020699" y="228473"/>
                    <a:pt x="1020699" y="510286"/>
                  </a:cubicBezTo>
                  <a:cubicBezTo>
                    <a:pt x="1020699" y="792099"/>
                    <a:pt x="792226" y="1020699"/>
                    <a:pt x="510286" y="1020699"/>
                  </a:cubicBezTo>
                  <a:cubicBezTo>
                    <a:pt x="228346" y="1020699"/>
                    <a:pt x="0" y="792226"/>
                    <a:pt x="0" y="51028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53384" y="129674"/>
            <a:ext cx="762302" cy="762303"/>
            <a:chOff x="0" y="0"/>
            <a:chExt cx="1016402" cy="1016404"/>
          </a:xfrm>
        </p:grpSpPr>
        <p:sp>
          <p:nvSpPr>
            <p:cNvPr id="16" name="Freeform 16" descr="image2.tif"/>
            <p:cNvSpPr/>
            <p:nvPr/>
          </p:nvSpPr>
          <p:spPr>
            <a:xfrm>
              <a:off x="0" y="0"/>
              <a:ext cx="1016381" cy="1016381"/>
            </a:xfrm>
            <a:custGeom>
              <a:avLst/>
              <a:gdLst/>
              <a:ahLst/>
              <a:cxnLst/>
              <a:rect l="l" t="t" r="r" b="b"/>
              <a:pathLst>
                <a:path w="1016381" h="1016381">
                  <a:moveTo>
                    <a:pt x="0" y="0"/>
                  </a:moveTo>
                  <a:lnTo>
                    <a:pt x="1016381" y="0"/>
                  </a:lnTo>
                  <a:lnTo>
                    <a:pt x="1016381" y="1016381"/>
                  </a:lnTo>
                  <a:lnTo>
                    <a:pt x="0" y="1016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163053" y="5140193"/>
            <a:ext cx="4163309" cy="756068"/>
            <a:chOff x="0" y="0"/>
            <a:chExt cx="5551079" cy="10080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551079" cy="1008090"/>
            </a:xfrm>
            <a:custGeom>
              <a:avLst/>
              <a:gdLst/>
              <a:ahLst/>
              <a:cxnLst/>
              <a:rect l="l" t="t" r="r" b="b"/>
              <a:pathLst>
                <a:path w="5551079" h="1008090">
                  <a:moveTo>
                    <a:pt x="0" y="0"/>
                  </a:moveTo>
                  <a:lnTo>
                    <a:pt x="5551079" y="0"/>
                  </a:lnTo>
                  <a:lnTo>
                    <a:pt x="5551079" y="1008090"/>
                  </a:lnTo>
                  <a:lnTo>
                    <a:pt x="0" y="10080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5551079" cy="10176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610"/>
                </a:lnSpc>
              </a:pPr>
              <a:r>
                <a:rPr lang="en-US" sz="2175" b="1">
                  <a:solidFill>
                    <a:srgbClr val="30303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Valentina Annunziata</a:t>
              </a:r>
            </a:p>
            <a:p>
              <a:pPr algn="r">
                <a:lnSpc>
                  <a:spcPts val="2610"/>
                </a:lnSpc>
              </a:pPr>
              <a:r>
                <a:rPr lang="en-US" sz="2175" b="1">
                  <a:solidFill>
                    <a:srgbClr val="30303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Mat.:  0522501687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15524" y="137371"/>
            <a:ext cx="755300" cy="746909"/>
            <a:chOff x="0" y="0"/>
            <a:chExt cx="1007067" cy="99587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07110" cy="995934"/>
            </a:xfrm>
            <a:custGeom>
              <a:avLst/>
              <a:gdLst/>
              <a:ahLst/>
              <a:cxnLst/>
              <a:rect l="l" t="t" r="r" b="b"/>
              <a:pathLst>
                <a:path w="1007110" h="995934">
                  <a:moveTo>
                    <a:pt x="0" y="497967"/>
                  </a:moveTo>
                  <a:cubicBezTo>
                    <a:pt x="0" y="222885"/>
                    <a:pt x="225425" y="0"/>
                    <a:pt x="503555" y="0"/>
                  </a:cubicBezTo>
                  <a:cubicBezTo>
                    <a:pt x="781685" y="0"/>
                    <a:pt x="1007110" y="222885"/>
                    <a:pt x="1007110" y="497967"/>
                  </a:cubicBezTo>
                  <a:cubicBezTo>
                    <a:pt x="1007110" y="773049"/>
                    <a:pt x="781685" y="995934"/>
                    <a:pt x="503555" y="995934"/>
                  </a:cubicBezTo>
                  <a:cubicBezTo>
                    <a:pt x="225425" y="995934"/>
                    <a:pt x="0" y="772922"/>
                    <a:pt x="0" y="49796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1378416" y="87282"/>
            <a:ext cx="812764" cy="847090"/>
            <a:chOff x="0" y="0"/>
            <a:chExt cx="1083686" cy="1129453"/>
          </a:xfrm>
        </p:grpSpPr>
        <p:sp>
          <p:nvSpPr>
            <p:cNvPr id="23" name="Freeform 23" descr="image1.tif"/>
            <p:cNvSpPr/>
            <p:nvPr/>
          </p:nvSpPr>
          <p:spPr>
            <a:xfrm>
              <a:off x="0" y="0"/>
              <a:ext cx="1083691" cy="1129411"/>
            </a:xfrm>
            <a:custGeom>
              <a:avLst/>
              <a:gdLst/>
              <a:ahLst/>
              <a:cxnLst/>
              <a:rect l="l" t="t" r="r" b="b"/>
              <a:pathLst>
                <a:path w="1083691" h="1129411">
                  <a:moveTo>
                    <a:pt x="0" y="0"/>
                  </a:moveTo>
                  <a:lnTo>
                    <a:pt x="1083691" y="0"/>
                  </a:lnTo>
                  <a:lnTo>
                    <a:pt x="1083691" y="1129411"/>
                  </a:lnTo>
                  <a:lnTo>
                    <a:pt x="0" y="11294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142" r="-42825" b="-61335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7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8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28" name="Freeform 28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9" name="Group 29"/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30" name="Freeform 30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934200" y="6386737"/>
            <a:ext cx="1518226" cy="823819"/>
            <a:chOff x="0" y="0"/>
            <a:chExt cx="2024301" cy="109842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24301" cy="1098425"/>
            </a:xfrm>
            <a:custGeom>
              <a:avLst/>
              <a:gdLst/>
              <a:ahLst/>
              <a:cxnLst/>
              <a:rect l="l" t="t" r="r" b="b"/>
              <a:pathLst>
                <a:path w="2024301" h="1098425">
                  <a:moveTo>
                    <a:pt x="0" y="0"/>
                  </a:moveTo>
                  <a:lnTo>
                    <a:pt x="2024301" y="0"/>
                  </a:lnTo>
                  <a:lnTo>
                    <a:pt x="2024301" y="1098425"/>
                  </a:lnTo>
                  <a:lnTo>
                    <a:pt x="0" y="10984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2024301" cy="11365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dirty="0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PDF della </a:t>
              </a:r>
              <a:r>
                <a:rPr lang="en-US" sz="1350" b="1" dirty="0" err="1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tesi</a:t>
              </a:r>
              <a:r>
                <a:rPr lang="en-US" sz="1350" b="1" dirty="0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—&gt;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26842" y="4972799"/>
            <a:ext cx="4163309" cy="1090856"/>
            <a:chOff x="0" y="0"/>
            <a:chExt cx="5551079" cy="145447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551079" cy="1454475"/>
            </a:xfrm>
            <a:custGeom>
              <a:avLst/>
              <a:gdLst/>
              <a:ahLst/>
              <a:cxnLst/>
              <a:rect l="l" t="t" r="r" b="b"/>
              <a:pathLst>
                <a:path w="5551079" h="1454475">
                  <a:moveTo>
                    <a:pt x="0" y="0"/>
                  </a:moveTo>
                  <a:lnTo>
                    <a:pt x="5551079" y="0"/>
                  </a:lnTo>
                  <a:lnTo>
                    <a:pt x="5551079" y="1454475"/>
                  </a:lnTo>
                  <a:lnTo>
                    <a:pt x="0" y="14544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5551079" cy="1464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30303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Prof.ssa Filomena Ferrucci</a:t>
              </a:r>
            </a:p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30303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Prof.ssa Sira Vegas</a:t>
              </a:r>
            </a:p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30303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Dott. Gabriele De Vito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777696" y="1143435"/>
            <a:ext cx="6200591" cy="299901"/>
            <a:chOff x="0" y="0"/>
            <a:chExt cx="8267454" cy="39986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267454" cy="399868"/>
            </a:xfrm>
            <a:custGeom>
              <a:avLst/>
              <a:gdLst/>
              <a:ahLst/>
              <a:cxnLst/>
              <a:rect l="l" t="t" r="r" b="b"/>
              <a:pathLst>
                <a:path w="8267454" h="399868">
                  <a:moveTo>
                    <a:pt x="0" y="0"/>
                  </a:moveTo>
                  <a:lnTo>
                    <a:pt x="8267454" y="0"/>
                  </a:lnTo>
                  <a:lnTo>
                    <a:pt x="8267454" y="399868"/>
                  </a:lnTo>
                  <a:lnTo>
                    <a:pt x="0" y="3998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8267454" cy="4093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30303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Corso di Laurea Magistrale in Informatica</a:t>
              </a:r>
            </a:p>
          </p:txBody>
        </p:sp>
      </p:grpSp>
      <p:grpSp>
        <p:nvGrpSpPr>
          <p:cNvPr id="42" name="Group 42"/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43" name="Freeform 43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pic>
        <p:nvPicPr>
          <p:cNvPr id="45" name="Immagine 44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57943506-EE77-1D21-238E-653719C3CA66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9" name="Freeform 9" descr="image2.png"/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14" name="Freeform 14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16" name="Freeform 16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23" name="Freeform 23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743" y="59804"/>
            <a:ext cx="8718449" cy="902045"/>
            <a:chOff x="0" y="0"/>
            <a:chExt cx="11624598" cy="1202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24598" cy="1202726"/>
            </a:xfrm>
            <a:custGeom>
              <a:avLst/>
              <a:gdLst/>
              <a:ahLst/>
              <a:cxnLst/>
              <a:rect l="l" t="t" r="r" b="b"/>
              <a:pathLst>
                <a:path w="11624598" h="1202726">
                  <a:moveTo>
                    <a:pt x="0" y="0"/>
                  </a:moveTo>
                  <a:lnTo>
                    <a:pt x="11624598" y="0"/>
                  </a:lnTo>
                  <a:lnTo>
                    <a:pt x="11624598" y="1202726"/>
                  </a:lnTo>
                  <a:lnTo>
                    <a:pt x="0" y="120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1624598" cy="11265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3375" b="1" spc="-6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Introduzione e Contesto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732784" y="1655409"/>
            <a:ext cx="4074342" cy="2714531"/>
          </a:xfrm>
          <a:custGeom>
            <a:avLst/>
            <a:gdLst/>
            <a:ahLst/>
            <a:cxnLst/>
            <a:rect l="l" t="t" r="r" b="b"/>
            <a:pathLst>
              <a:path w="4074342" h="2714531">
                <a:moveTo>
                  <a:pt x="0" y="0"/>
                </a:moveTo>
                <a:lnTo>
                  <a:pt x="4074342" y="0"/>
                </a:lnTo>
                <a:lnTo>
                  <a:pt x="4074342" y="2714530"/>
                </a:lnTo>
                <a:lnTo>
                  <a:pt x="0" y="2714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8" name="TextBox 28"/>
          <p:cNvSpPr txBox="1"/>
          <p:nvPr/>
        </p:nvSpPr>
        <p:spPr>
          <a:xfrm>
            <a:off x="1074840" y="4314021"/>
            <a:ext cx="3481707" cy="490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Come </a:t>
            </a:r>
            <a:r>
              <a:rPr lang="en-US" sz="14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funziona</a:t>
            </a:r>
            <a:r>
              <a:rPr lang="en-US" sz="14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la CMG:</a:t>
            </a:r>
          </a:p>
          <a:p>
            <a:pPr algn="l">
              <a:lnSpc>
                <a:spcPts val="2016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dal </a:t>
            </a:r>
            <a:r>
              <a:rPr lang="en-US" sz="14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codice</a:t>
            </a:r>
            <a:r>
              <a:rPr lang="en-US" sz="14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modificato</a:t>
            </a:r>
            <a:r>
              <a:rPr lang="en-US" sz="14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 un commit message</a:t>
            </a:r>
          </a:p>
        </p:txBody>
      </p:sp>
      <p:sp>
        <p:nvSpPr>
          <p:cNvPr id="29" name="Freeform 29"/>
          <p:cNvSpPr/>
          <p:nvPr/>
        </p:nvSpPr>
        <p:spPr>
          <a:xfrm>
            <a:off x="734048" y="4408039"/>
            <a:ext cx="340792" cy="340792"/>
          </a:xfrm>
          <a:custGeom>
            <a:avLst/>
            <a:gdLst/>
            <a:ahLst/>
            <a:cxnLst/>
            <a:rect l="l" t="t" r="r" b="b"/>
            <a:pathLst>
              <a:path w="340792" h="340792">
                <a:moveTo>
                  <a:pt x="0" y="0"/>
                </a:moveTo>
                <a:lnTo>
                  <a:pt x="340792" y="0"/>
                </a:lnTo>
                <a:lnTo>
                  <a:pt x="340792" y="340792"/>
                </a:lnTo>
                <a:lnTo>
                  <a:pt x="0" y="34079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0" name="TextBox 30"/>
          <p:cNvSpPr txBox="1"/>
          <p:nvPr/>
        </p:nvSpPr>
        <p:spPr>
          <a:xfrm>
            <a:off x="4807126" y="1805861"/>
            <a:ext cx="4187962" cy="1351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 commit message spiegano </a:t>
            </a:r>
            <a:r>
              <a:rPr lang="en-US" sz="1799" b="1" i="1">
                <a:solidFill>
                  <a:srgbClr val="00000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cosa </a:t>
            </a:r>
            <a:r>
              <a:rPr lang="en-US" sz="1799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è cambiato nel codice e </a:t>
            </a:r>
            <a:r>
              <a:rPr lang="en-US" sz="1799" b="1" i="1">
                <a:solidFill>
                  <a:srgbClr val="00000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perché</a:t>
            </a:r>
            <a:r>
              <a:rPr lang="en-US" sz="1799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.</a:t>
            </a:r>
          </a:p>
          <a:p>
            <a:pPr algn="l">
              <a:lnSpc>
                <a:spcPts val="2591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Problema:</a:t>
            </a:r>
            <a:r>
              <a:rPr lang="en-US" sz="17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spesso sono: assenti, vaghi (es. “fix”), errati.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807126" y="3652531"/>
            <a:ext cx="4187962" cy="6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</a:t>
            </a:r>
            <a:r>
              <a:rPr lang="en-US" sz="1799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CMG </a:t>
            </a:r>
            <a:r>
              <a:rPr lang="en-US" sz="17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(Commit Message Generation) automatizza la scrittura dei commit via AI.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38011" y="5155576"/>
            <a:ext cx="6874839" cy="363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Mancano confronti sistematici e riproducibili tra modelli.</a:t>
            </a:r>
          </a:p>
        </p:txBody>
      </p:sp>
      <p:sp>
        <p:nvSpPr>
          <p:cNvPr id="33" name="Freeform 33"/>
          <p:cNvSpPr/>
          <p:nvPr/>
        </p:nvSpPr>
        <p:spPr>
          <a:xfrm>
            <a:off x="1140750" y="5104432"/>
            <a:ext cx="568685" cy="568685"/>
          </a:xfrm>
          <a:custGeom>
            <a:avLst/>
            <a:gdLst/>
            <a:ahLst/>
            <a:cxnLst/>
            <a:rect l="l" t="t" r="r" b="b"/>
            <a:pathLst>
              <a:path w="568685" h="568685">
                <a:moveTo>
                  <a:pt x="0" y="0"/>
                </a:moveTo>
                <a:lnTo>
                  <a:pt x="568686" y="0"/>
                </a:lnTo>
                <a:lnTo>
                  <a:pt x="568686" y="568686"/>
                </a:lnTo>
                <a:lnTo>
                  <a:pt x="0" y="56868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pic>
        <p:nvPicPr>
          <p:cNvPr id="37" name="Immagine 36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3C75B097-3C60-4F38-53F2-C0ECF413D8F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9" name="Freeform 9" descr="image2.png"/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14" name="Freeform 14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16" name="Freeform 16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23" name="Freeform 23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743" y="59804"/>
            <a:ext cx="8718449" cy="902045"/>
            <a:chOff x="0" y="0"/>
            <a:chExt cx="11624598" cy="1202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24598" cy="1202726"/>
            </a:xfrm>
            <a:custGeom>
              <a:avLst/>
              <a:gdLst/>
              <a:ahLst/>
              <a:cxnLst/>
              <a:rect l="l" t="t" r="r" b="b"/>
              <a:pathLst>
                <a:path w="11624598" h="1202726">
                  <a:moveTo>
                    <a:pt x="0" y="0"/>
                  </a:moveTo>
                  <a:lnTo>
                    <a:pt x="11624598" y="0"/>
                  </a:lnTo>
                  <a:lnTo>
                    <a:pt x="11624598" y="1202726"/>
                  </a:lnTo>
                  <a:lnTo>
                    <a:pt x="0" y="120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1624598" cy="11265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3375" b="1" spc="-6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Obiettivo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690687" y="2204746"/>
            <a:ext cx="3373145" cy="3593031"/>
          </a:xfrm>
          <a:custGeom>
            <a:avLst/>
            <a:gdLst/>
            <a:ahLst/>
            <a:cxnLst/>
            <a:rect l="l" t="t" r="r" b="b"/>
            <a:pathLst>
              <a:path w="3373145" h="3593031">
                <a:moveTo>
                  <a:pt x="0" y="0"/>
                </a:moveTo>
                <a:lnTo>
                  <a:pt x="3373146" y="0"/>
                </a:lnTo>
                <a:lnTo>
                  <a:pt x="3373146" y="3593032"/>
                </a:lnTo>
                <a:lnTo>
                  <a:pt x="0" y="35930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8" name="TextBox 28"/>
          <p:cNvSpPr txBox="1"/>
          <p:nvPr/>
        </p:nvSpPr>
        <p:spPr>
          <a:xfrm>
            <a:off x="690687" y="1479322"/>
            <a:ext cx="8290560" cy="725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Identificare modelli riproducibili, pubblici e rappresentativi per il compito di Commit Message Generation (</a:t>
            </a:r>
            <a:r>
              <a:rPr lang="en-US" sz="20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CMG</a:t>
            </a:r>
            <a:r>
              <a:rPr lang="en-US" sz="2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).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351940" y="3148421"/>
            <a:ext cx="4458721" cy="1658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9806" lvl="1" indent="-199903" algn="l">
              <a:lnSpc>
                <a:spcPts val="2666"/>
              </a:lnSpc>
              <a:buFont typeface="Arial"/>
              <a:buChar char="•"/>
            </a:pPr>
            <a:r>
              <a:rPr lang="en-US" sz="185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Analisi incrociata di articoli scientifici recenti (2018–2023)</a:t>
            </a:r>
          </a:p>
          <a:p>
            <a:pPr marL="399806" lvl="1" indent="-199903" algn="l">
              <a:lnSpc>
                <a:spcPts val="2666"/>
              </a:lnSpc>
              <a:buFont typeface="Arial"/>
              <a:buChar char="•"/>
            </a:pPr>
            <a:r>
              <a:rPr lang="en-US" sz="185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Verifica disponibilità codice e dataset</a:t>
            </a:r>
          </a:p>
          <a:p>
            <a:pPr marL="399806" lvl="1" indent="-199903" algn="l">
              <a:lnSpc>
                <a:spcPts val="2666"/>
              </a:lnSpc>
              <a:buFont typeface="Arial"/>
              <a:buChar char="•"/>
            </a:pPr>
            <a:r>
              <a:rPr lang="en-US" sz="185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Consultazione con la Prof.ssa Vegas – UPM (Madrid)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351940" y="2579697"/>
            <a:ext cx="3725260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4"/>
              </a:lnSpc>
              <a:spcBef>
                <a:spcPct val="0"/>
              </a:spcBef>
            </a:pP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Processo</a:t>
            </a: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adottato</a:t>
            </a: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</a:t>
            </a:r>
          </a:p>
        </p:txBody>
      </p:sp>
      <p:pic>
        <p:nvPicPr>
          <p:cNvPr id="34" name="Immagine 33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BD22F130-020B-E848-B6F6-15A3D1590E8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9" name="Freeform 9" descr="image2.png"/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14" name="Freeform 14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16" name="Freeform 16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23" name="Freeform 23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743" y="59804"/>
            <a:ext cx="8718449" cy="902045"/>
            <a:chOff x="0" y="0"/>
            <a:chExt cx="11624598" cy="1202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24598" cy="1202726"/>
            </a:xfrm>
            <a:custGeom>
              <a:avLst/>
              <a:gdLst/>
              <a:ahLst/>
              <a:cxnLst/>
              <a:rect l="l" t="t" r="r" b="b"/>
              <a:pathLst>
                <a:path w="11624598" h="1202726">
                  <a:moveTo>
                    <a:pt x="0" y="0"/>
                  </a:moveTo>
                  <a:lnTo>
                    <a:pt x="11624598" y="0"/>
                  </a:lnTo>
                  <a:lnTo>
                    <a:pt x="11624598" y="1202726"/>
                  </a:lnTo>
                  <a:lnTo>
                    <a:pt x="0" y="120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1624598" cy="11265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3375" b="1" spc="-6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Selezione dei Modelli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 flipH="1">
            <a:off x="3068010" y="2466723"/>
            <a:ext cx="0" cy="27561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8" name="AutoShape 28"/>
          <p:cNvSpPr/>
          <p:nvPr/>
        </p:nvSpPr>
        <p:spPr>
          <a:xfrm>
            <a:off x="5910472" y="2466723"/>
            <a:ext cx="0" cy="27561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9" name="Freeform 29"/>
          <p:cNvSpPr/>
          <p:nvPr/>
        </p:nvSpPr>
        <p:spPr>
          <a:xfrm>
            <a:off x="736784" y="2792097"/>
            <a:ext cx="2082153" cy="2082153"/>
          </a:xfrm>
          <a:custGeom>
            <a:avLst/>
            <a:gdLst/>
            <a:ahLst/>
            <a:cxnLst/>
            <a:rect l="l" t="t" r="r" b="b"/>
            <a:pathLst>
              <a:path w="2082153" h="2082153">
                <a:moveTo>
                  <a:pt x="0" y="0"/>
                </a:moveTo>
                <a:lnTo>
                  <a:pt x="2082153" y="0"/>
                </a:lnTo>
                <a:lnTo>
                  <a:pt x="2082153" y="2082153"/>
                </a:lnTo>
                <a:lnTo>
                  <a:pt x="0" y="20821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0" name="Freeform 30"/>
          <p:cNvSpPr/>
          <p:nvPr/>
        </p:nvSpPr>
        <p:spPr>
          <a:xfrm>
            <a:off x="3486564" y="2792097"/>
            <a:ext cx="2005354" cy="2005354"/>
          </a:xfrm>
          <a:custGeom>
            <a:avLst/>
            <a:gdLst/>
            <a:ahLst/>
            <a:cxnLst/>
            <a:rect l="l" t="t" r="r" b="b"/>
            <a:pathLst>
              <a:path w="2005354" h="2005354">
                <a:moveTo>
                  <a:pt x="0" y="0"/>
                </a:moveTo>
                <a:lnTo>
                  <a:pt x="2005354" y="0"/>
                </a:lnTo>
                <a:lnTo>
                  <a:pt x="2005354" y="2005354"/>
                </a:lnTo>
                <a:lnTo>
                  <a:pt x="0" y="20053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1" name="Freeform 31"/>
          <p:cNvSpPr/>
          <p:nvPr/>
        </p:nvSpPr>
        <p:spPr>
          <a:xfrm>
            <a:off x="6158122" y="2792097"/>
            <a:ext cx="1575481" cy="1575481"/>
          </a:xfrm>
          <a:custGeom>
            <a:avLst/>
            <a:gdLst/>
            <a:ahLst/>
            <a:cxnLst/>
            <a:rect l="l" t="t" r="r" b="b"/>
            <a:pathLst>
              <a:path w="1575481" h="1575481">
                <a:moveTo>
                  <a:pt x="0" y="0"/>
                </a:moveTo>
                <a:lnTo>
                  <a:pt x="1575481" y="0"/>
                </a:lnTo>
                <a:lnTo>
                  <a:pt x="1575481" y="1575480"/>
                </a:lnTo>
                <a:lnTo>
                  <a:pt x="0" y="15754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2" name="Freeform 32"/>
          <p:cNvSpPr/>
          <p:nvPr/>
        </p:nvSpPr>
        <p:spPr>
          <a:xfrm>
            <a:off x="7195673" y="3460792"/>
            <a:ext cx="1336659" cy="1336659"/>
          </a:xfrm>
          <a:custGeom>
            <a:avLst/>
            <a:gdLst/>
            <a:ahLst/>
            <a:cxnLst/>
            <a:rect l="l" t="t" r="r" b="b"/>
            <a:pathLst>
              <a:path w="1336659" h="1336659">
                <a:moveTo>
                  <a:pt x="0" y="0"/>
                </a:moveTo>
                <a:lnTo>
                  <a:pt x="1336659" y="0"/>
                </a:lnTo>
                <a:lnTo>
                  <a:pt x="1336659" y="1336659"/>
                </a:lnTo>
                <a:lnTo>
                  <a:pt x="0" y="13366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3" name="TextBox 33"/>
          <p:cNvSpPr txBox="1"/>
          <p:nvPr/>
        </p:nvSpPr>
        <p:spPr>
          <a:xfrm>
            <a:off x="3212858" y="5451684"/>
            <a:ext cx="3686956" cy="542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5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Ogni </a:t>
            </a:r>
            <a:r>
              <a:rPr lang="en-US" sz="15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modello</a:t>
            </a:r>
            <a:r>
              <a:rPr lang="en-US" sz="15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segue un </a:t>
            </a:r>
            <a:r>
              <a:rPr lang="en-US" sz="15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paradigma</a:t>
            </a:r>
            <a:r>
              <a:rPr lang="en-US" sz="15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diverso</a:t>
            </a:r>
            <a:r>
              <a:rPr lang="en-US" sz="15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5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confronto</a:t>
            </a:r>
            <a:r>
              <a:rPr lang="en-US" sz="15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</a:t>
            </a:r>
            <a:r>
              <a:rPr lang="en-US" sz="15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basi</a:t>
            </a:r>
            <a:r>
              <a:rPr lang="en-US" sz="15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architetturali</a:t>
            </a:r>
            <a:r>
              <a:rPr lang="en-US" sz="15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distinte</a:t>
            </a:r>
            <a:r>
              <a:rPr lang="en-US" sz="15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36784" y="1331167"/>
            <a:ext cx="4755134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4"/>
              </a:lnSpc>
              <a:spcBef>
                <a:spcPct val="0"/>
              </a:spcBef>
            </a:pP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Modelli</a:t>
            </a: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Neurali</a:t>
            </a: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Analizzati</a:t>
            </a:r>
            <a:endParaRPr lang="en-US" sz="2600" b="1" dirty="0">
              <a:solidFill>
                <a:srgbClr val="000000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204456" y="2304798"/>
            <a:ext cx="1146810" cy="363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CoDiSum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164331" y="2305226"/>
            <a:ext cx="864869" cy="334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RACE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899814" y="2305226"/>
            <a:ext cx="1101185" cy="334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KADEL</a:t>
            </a:r>
          </a:p>
        </p:txBody>
      </p:sp>
      <p:sp>
        <p:nvSpPr>
          <p:cNvPr id="38" name="Freeform 38"/>
          <p:cNvSpPr/>
          <p:nvPr/>
        </p:nvSpPr>
        <p:spPr>
          <a:xfrm>
            <a:off x="2477778" y="5392832"/>
            <a:ext cx="681584" cy="681584"/>
          </a:xfrm>
          <a:custGeom>
            <a:avLst/>
            <a:gdLst/>
            <a:ahLst/>
            <a:cxnLst/>
            <a:rect l="l" t="t" r="r" b="b"/>
            <a:pathLst>
              <a:path w="681584" h="681584">
                <a:moveTo>
                  <a:pt x="0" y="0"/>
                </a:moveTo>
                <a:lnTo>
                  <a:pt x="681583" y="0"/>
                </a:lnTo>
                <a:lnTo>
                  <a:pt x="681583" y="681584"/>
                </a:lnTo>
                <a:lnTo>
                  <a:pt x="0" y="68158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pic>
        <p:nvPicPr>
          <p:cNvPr id="42" name="Immagine 41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1ABE1219-C175-C7AF-7CDE-D1E9A7F0D9CF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9" name="Freeform 9" descr="image2.png"/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14" name="Freeform 14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16" name="Freeform 16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23" name="Freeform 23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743" y="59804"/>
            <a:ext cx="8718449" cy="902045"/>
            <a:chOff x="0" y="0"/>
            <a:chExt cx="11624598" cy="1202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24598" cy="1202726"/>
            </a:xfrm>
            <a:custGeom>
              <a:avLst/>
              <a:gdLst/>
              <a:ahLst/>
              <a:cxnLst/>
              <a:rect l="l" t="t" r="r" b="b"/>
              <a:pathLst>
                <a:path w="11624598" h="1202726">
                  <a:moveTo>
                    <a:pt x="0" y="0"/>
                  </a:moveTo>
                  <a:lnTo>
                    <a:pt x="11624598" y="0"/>
                  </a:lnTo>
                  <a:lnTo>
                    <a:pt x="11624598" y="1202726"/>
                  </a:lnTo>
                  <a:lnTo>
                    <a:pt x="0" y="120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1624598" cy="11265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3375" b="1" spc="-6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Selezione dei Modelli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078350" y="1988507"/>
            <a:ext cx="7599283" cy="3338186"/>
          </a:xfrm>
          <a:custGeom>
            <a:avLst/>
            <a:gdLst/>
            <a:ahLst/>
            <a:cxnLst/>
            <a:rect l="l" t="t" r="r" b="b"/>
            <a:pathLst>
              <a:path w="7599283" h="3338186">
                <a:moveTo>
                  <a:pt x="0" y="0"/>
                </a:moveTo>
                <a:lnTo>
                  <a:pt x="7599283" y="0"/>
                </a:lnTo>
                <a:lnTo>
                  <a:pt x="7599283" y="3338186"/>
                </a:lnTo>
                <a:lnTo>
                  <a:pt x="0" y="333818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8" name="TextBox 28"/>
          <p:cNvSpPr txBox="1"/>
          <p:nvPr/>
        </p:nvSpPr>
        <p:spPr>
          <a:xfrm>
            <a:off x="731520" y="1305965"/>
            <a:ext cx="1146810" cy="363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CoDiSum</a:t>
            </a:r>
          </a:p>
        </p:txBody>
      </p:sp>
      <p:pic>
        <p:nvPicPr>
          <p:cNvPr id="32" name="Immagine 31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67819E4E-8592-455A-110A-F73DCEAC2E8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9" name="Freeform 9" descr="image2.png"/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14" name="Freeform 14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16" name="Freeform 16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23" name="Freeform 23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743" y="59804"/>
            <a:ext cx="8718449" cy="902045"/>
            <a:chOff x="0" y="0"/>
            <a:chExt cx="11624598" cy="1202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24598" cy="1202726"/>
            </a:xfrm>
            <a:custGeom>
              <a:avLst/>
              <a:gdLst/>
              <a:ahLst/>
              <a:cxnLst/>
              <a:rect l="l" t="t" r="r" b="b"/>
              <a:pathLst>
                <a:path w="11624598" h="1202726">
                  <a:moveTo>
                    <a:pt x="0" y="0"/>
                  </a:moveTo>
                  <a:lnTo>
                    <a:pt x="11624598" y="0"/>
                  </a:lnTo>
                  <a:lnTo>
                    <a:pt x="11624598" y="1202726"/>
                  </a:lnTo>
                  <a:lnTo>
                    <a:pt x="0" y="120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1624598" cy="11265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3375" b="1" spc="-6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Selezione dei Modelli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689744" y="1935633"/>
            <a:ext cx="6376495" cy="3443934"/>
          </a:xfrm>
          <a:custGeom>
            <a:avLst/>
            <a:gdLst/>
            <a:ahLst/>
            <a:cxnLst/>
            <a:rect l="l" t="t" r="r" b="b"/>
            <a:pathLst>
              <a:path w="6376495" h="3443934">
                <a:moveTo>
                  <a:pt x="0" y="0"/>
                </a:moveTo>
                <a:lnTo>
                  <a:pt x="6376495" y="0"/>
                </a:lnTo>
                <a:lnTo>
                  <a:pt x="6376495" y="3443934"/>
                </a:lnTo>
                <a:lnTo>
                  <a:pt x="0" y="34439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8" name="TextBox 28"/>
          <p:cNvSpPr txBox="1"/>
          <p:nvPr/>
        </p:nvSpPr>
        <p:spPr>
          <a:xfrm>
            <a:off x="731520" y="1301173"/>
            <a:ext cx="958224" cy="334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RACE</a:t>
            </a:r>
          </a:p>
        </p:txBody>
      </p:sp>
      <p:pic>
        <p:nvPicPr>
          <p:cNvPr id="32" name="Immagine 31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E461746E-A641-E266-38CF-7C5738A3155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9" name="Freeform 9" descr="image2.png"/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14" name="Freeform 14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16" name="Freeform 16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23" name="Freeform 23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743" y="59804"/>
            <a:ext cx="8718449" cy="902045"/>
            <a:chOff x="0" y="0"/>
            <a:chExt cx="11624598" cy="1202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24598" cy="1202726"/>
            </a:xfrm>
            <a:custGeom>
              <a:avLst/>
              <a:gdLst/>
              <a:ahLst/>
              <a:cxnLst/>
              <a:rect l="l" t="t" r="r" b="b"/>
              <a:pathLst>
                <a:path w="11624598" h="1202726">
                  <a:moveTo>
                    <a:pt x="0" y="0"/>
                  </a:moveTo>
                  <a:lnTo>
                    <a:pt x="11624598" y="0"/>
                  </a:lnTo>
                  <a:lnTo>
                    <a:pt x="11624598" y="1202726"/>
                  </a:lnTo>
                  <a:lnTo>
                    <a:pt x="0" y="120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1624598" cy="11265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3375" b="1" spc="-6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Selezione dei Modelli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2691525" y="1516923"/>
            <a:ext cx="4370550" cy="4281355"/>
          </a:xfrm>
          <a:custGeom>
            <a:avLst/>
            <a:gdLst/>
            <a:ahLst/>
            <a:cxnLst/>
            <a:rect l="l" t="t" r="r" b="b"/>
            <a:pathLst>
              <a:path w="4370550" h="4281355">
                <a:moveTo>
                  <a:pt x="0" y="0"/>
                </a:moveTo>
                <a:lnTo>
                  <a:pt x="4370550" y="0"/>
                </a:lnTo>
                <a:lnTo>
                  <a:pt x="4370550" y="4281354"/>
                </a:lnTo>
                <a:lnTo>
                  <a:pt x="0" y="42813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8" name="TextBox 28"/>
          <p:cNvSpPr txBox="1"/>
          <p:nvPr/>
        </p:nvSpPr>
        <p:spPr>
          <a:xfrm>
            <a:off x="686342" y="1316136"/>
            <a:ext cx="1142458" cy="334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KADEL</a:t>
            </a:r>
          </a:p>
        </p:txBody>
      </p:sp>
      <p:pic>
        <p:nvPicPr>
          <p:cNvPr id="32" name="Immagine 31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9C733543-AFB7-F3D3-386A-B3E777E8433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9" name="Freeform 9" descr="image2.png"/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14" name="Freeform 14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16" name="Freeform 16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23" name="Freeform 23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743" y="59804"/>
            <a:ext cx="8718449" cy="902045"/>
            <a:chOff x="0" y="0"/>
            <a:chExt cx="11624598" cy="1202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24598" cy="1202726"/>
            </a:xfrm>
            <a:custGeom>
              <a:avLst/>
              <a:gdLst/>
              <a:ahLst/>
              <a:cxnLst/>
              <a:rect l="l" t="t" r="r" b="b"/>
              <a:pathLst>
                <a:path w="11624598" h="1202726">
                  <a:moveTo>
                    <a:pt x="0" y="0"/>
                  </a:moveTo>
                  <a:lnTo>
                    <a:pt x="11624598" y="0"/>
                  </a:lnTo>
                  <a:lnTo>
                    <a:pt x="11624598" y="1202726"/>
                  </a:lnTo>
                  <a:lnTo>
                    <a:pt x="0" y="120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1624598" cy="11265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3375" b="1" spc="-6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Domande di Ricerca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30256" y="4645385"/>
            <a:ext cx="8289296" cy="1392958"/>
            <a:chOff x="0" y="0"/>
            <a:chExt cx="3070110" cy="51591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070110" cy="515910"/>
            </a:xfrm>
            <a:custGeom>
              <a:avLst/>
              <a:gdLst/>
              <a:ahLst/>
              <a:cxnLst/>
              <a:rect l="l" t="t" r="r" b="b"/>
              <a:pathLst>
                <a:path w="3070110" h="515910">
                  <a:moveTo>
                    <a:pt x="0" y="0"/>
                  </a:moveTo>
                  <a:lnTo>
                    <a:pt x="3070110" y="0"/>
                  </a:lnTo>
                  <a:lnTo>
                    <a:pt x="3070110" y="515910"/>
                  </a:lnTo>
                  <a:lnTo>
                    <a:pt x="0" y="5159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D0213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3070110" cy="554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44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798250" y="4790763"/>
            <a:ext cx="5910081" cy="108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RQ3 – Stabilità:</a:t>
            </a:r>
          </a:p>
          <a:p>
            <a:pPr marL="431801" lvl="1" indent="-215900" algn="l">
              <a:lnSpc>
                <a:spcPts val="28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 prestazioni dei modelli rimangono stabili su esecuzioni multiple con inizializzazioni diverse?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32784" y="1375643"/>
            <a:ext cx="8289296" cy="1392958"/>
            <a:chOff x="0" y="0"/>
            <a:chExt cx="3070110" cy="51591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070110" cy="515910"/>
            </a:xfrm>
            <a:custGeom>
              <a:avLst/>
              <a:gdLst/>
              <a:ahLst/>
              <a:cxnLst/>
              <a:rect l="l" t="t" r="r" b="b"/>
              <a:pathLst>
                <a:path w="3070110" h="515910">
                  <a:moveTo>
                    <a:pt x="0" y="0"/>
                  </a:moveTo>
                  <a:lnTo>
                    <a:pt x="3070110" y="0"/>
                  </a:lnTo>
                  <a:lnTo>
                    <a:pt x="3070110" y="515910"/>
                  </a:lnTo>
                  <a:lnTo>
                    <a:pt x="0" y="5159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D0213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3070110" cy="554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44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31520" y="3010514"/>
            <a:ext cx="8289296" cy="1392958"/>
            <a:chOff x="0" y="0"/>
            <a:chExt cx="3070110" cy="51591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070110" cy="515910"/>
            </a:xfrm>
            <a:custGeom>
              <a:avLst/>
              <a:gdLst/>
              <a:ahLst/>
              <a:cxnLst/>
              <a:rect l="l" t="t" r="r" b="b"/>
              <a:pathLst>
                <a:path w="3070110" h="515910">
                  <a:moveTo>
                    <a:pt x="0" y="0"/>
                  </a:moveTo>
                  <a:lnTo>
                    <a:pt x="3070110" y="0"/>
                  </a:lnTo>
                  <a:lnTo>
                    <a:pt x="3070110" y="515910"/>
                  </a:lnTo>
                  <a:lnTo>
                    <a:pt x="0" y="5159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D0213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3070110" cy="554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44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2798250" y="1509385"/>
            <a:ext cx="6098634" cy="108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RQ1 – Riproducibilità:</a:t>
            </a:r>
          </a:p>
          <a:p>
            <a:pPr marL="431801" lvl="1" indent="-215900" algn="l">
              <a:lnSpc>
                <a:spcPts val="28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Possiamo ricostruire oggi un modello storico e ottenere risultati coerenti con quelli originali?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798250" y="3140076"/>
            <a:ext cx="5862285" cy="108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RQ2 – Qualità:</a:t>
            </a:r>
          </a:p>
          <a:p>
            <a:pPr marL="431801" lvl="1" indent="-215900" algn="l">
              <a:lnSpc>
                <a:spcPts val="28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 un dataset comune, emergono differenze nelle prestazioni tra modelli moderni?</a:t>
            </a:r>
          </a:p>
        </p:txBody>
      </p:sp>
      <p:sp>
        <p:nvSpPr>
          <p:cNvPr id="39" name="Freeform 39"/>
          <p:cNvSpPr/>
          <p:nvPr/>
        </p:nvSpPr>
        <p:spPr>
          <a:xfrm>
            <a:off x="1136139" y="1547485"/>
            <a:ext cx="1049274" cy="1049274"/>
          </a:xfrm>
          <a:custGeom>
            <a:avLst/>
            <a:gdLst/>
            <a:ahLst/>
            <a:cxnLst/>
            <a:rect l="l" t="t" r="r" b="b"/>
            <a:pathLst>
              <a:path w="1049274" h="1049274">
                <a:moveTo>
                  <a:pt x="0" y="0"/>
                </a:moveTo>
                <a:lnTo>
                  <a:pt x="1049274" y="0"/>
                </a:lnTo>
                <a:lnTo>
                  <a:pt x="1049274" y="1049274"/>
                </a:lnTo>
                <a:lnTo>
                  <a:pt x="0" y="10492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0" name="Freeform 40"/>
          <p:cNvSpPr/>
          <p:nvPr/>
        </p:nvSpPr>
        <p:spPr>
          <a:xfrm>
            <a:off x="1136139" y="3178176"/>
            <a:ext cx="1049274" cy="1049274"/>
          </a:xfrm>
          <a:custGeom>
            <a:avLst/>
            <a:gdLst/>
            <a:ahLst/>
            <a:cxnLst/>
            <a:rect l="l" t="t" r="r" b="b"/>
            <a:pathLst>
              <a:path w="1049274" h="1049274">
                <a:moveTo>
                  <a:pt x="0" y="0"/>
                </a:moveTo>
                <a:lnTo>
                  <a:pt x="1049274" y="0"/>
                </a:lnTo>
                <a:lnTo>
                  <a:pt x="1049274" y="1049274"/>
                </a:lnTo>
                <a:lnTo>
                  <a:pt x="0" y="10492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1" name="Freeform 41"/>
          <p:cNvSpPr/>
          <p:nvPr/>
        </p:nvSpPr>
        <p:spPr>
          <a:xfrm>
            <a:off x="1136139" y="4828863"/>
            <a:ext cx="1049274" cy="1049274"/>
          </a:xfrm>
          <a:custGeom>
            <a:avLst/>
            <a:gdLst/>
            <a:ahLst/>
            <a:cxnLst/>
            <a:rect l="l" t="t" r="r" b="b"/>
            <a:pathLst>
              <a:path w="1049274" h="1049274">
                <a:moveTo>
                  <a:pt x="0" y="0"/>
                </a:moveTo>
                <a:lnTo>
                  <a:pt x="1049274" y="0"/>
                </a:lnTo>
                <a:lnTo>
                  <a:pt x="1049274" y="1049274"/>
                </a:lnTo>
                <a:lnTo>
                  <a:pt x="0" y="10492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pic>
        <p:nvPicPr>
          <p:cNvPr id="45" name="Immagine 44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8EE5A417-5FA7-4288-594F-FDD797E7C6E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9" name="Freeform 9" descr="image2.png"/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14" name="Freeform 14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16" name="Freeform 16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23" name="Freeform 23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743" y="59804"/>
            <a:ext cx="8718449" cy="902045"/>
            <a:chOff x="0" y="0"/>
            <a:chExt cx="11624598" cy="1202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24598" cy="1202726"/>
            </a:xfrm>
            <a:custGeom>
              <a:avLst/>
              <a:gdLst/>
              <a:ahLst/>
              <a:cxnLst/>
              <a:rect l="l" t="t" r="r" b="b"/>
              <a:pathLst>
                <a:path w="11624598" h="1202726">
                  <a:moveTo>
                    <a:pt x="0" y="0"/>
                  </a:moveTo>
                  <a:lnTo>
                    <a:pt x="11624598" y="0"/>
                  </a:lnTo>
                  <a:lnTo>
                    <a:pt x="11624598" y="1202726"/>
                  </a:lnTo>
                  <a:lnTo>
                    <a:pt x="0" y="120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1624598" cy="11265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3375" b="1" spc="-6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Fasi Sperimentali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919224" y="4097068"/>
            <a:ext cx="1452629" cy="1452629"/>
          </a:xfrm>
          <a:custGeom>
            <a:avLst/>
            <a:gdLst/>
            <a:ahLst/>
            <a:cxnLst/>
            <a:rect l="l" t="t" r="r" b="b"/>
            <a:pathLst>
              <a:path w="1452629" h="1452629">
                <a:moveTo>
                  <a:pt x="0" y="0"/>
                </a:moveTo>
                <a:lnTo>
                  <a:pt x="1452629" y="0"/>
                </a:lnTo>
                <a:lnTo>
                  <a:pt x="1452629" y="1452629"/>
                </a:lnTo>
                <a:lnTo>
                  <a:pt x="0" y="14526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8" name="TextBox 28"/>
          <p:cNvSpPr txBox="1"/>
          <p:nvPr/>
        </p:nvSpPr>
        <p:spPr>
          <a:xfrm>
            <a:off x="919224" y="1331167"/>
            <a:ext cx="5633976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4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Fase 1 - </a:t>
            </a: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Preparazione</a:t>
            </a: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dataset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223" y="2010488"/>
            <a:ext cx="4869701" cy="1087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1" lvl="1" indent="-215900" algn="l">
              <a:lnSpc>
                <a:spcPts val="2880"/>
              </a:lnSpc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D1:</a:t>
            </a:r>
            <a:r>
              <a:rPr lang="en-US" sz="20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patch </a:t>
            </a:r>
            <a:r>
              <a:rPr lang="en-US" sz="20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testuali</a:t>
            </a:r>
            <a:r>
              <a:rPr lang="en-US" sz="20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(solo </a:t>
            </a:r>
            <a:r>
              <a:rPr lang="en-US" sz="20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CoDiSum</a:t>
            </a:r>
            <a:r>
              <a:rPr lang="en-US" sz="20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)</a:t>
            </a:r>
          </a:p>
          <a:p>
            <a:pPr marL="431801" lvl="1" indent="-215900" algn="l">
              <a:lnSpc>
                <a:spcPts val="2880"/>
              </a:lnSpc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D2: </a:t>
            </a:r>
            <a:r>
              <a:rPr lang="en-US" sz="20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edit actions (RACE, KADEL)</a:t>
            </a:r>
          </a:p>
          <a:p>
            <a:pPr marL="431801" lvl="1" indent="-215900" algn="l">
              <a:lnSpc>
                <a:spcPts val="2880"/>
              </a:lnSpc>
              <a:buFont typeface="Arial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Pulizia</a:t>
            </a:r>
            <a:r>
              <a:rPr lang="en-US" sz="20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 </a:t>
            </a:r>
            <a:r>
              <a:rPr lang="en-US" sz="20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formattazione</a:t>
            </a:r>
            <a:r>
              <a:rPr lang="en-US" sz="20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coerente</a:t>
            </a:r>
            <a:endParaRPr lang="en-US" sz="2000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pic>
        <p:nvPicPr>
          <p:cNvPr id="31" name="Immagine 30" descr="Immagine che contiene testo, ricevuta, Carattere, bianco&#10;&#10;Il contenuto generato dall'IA potrebbe non essere corretto.">
            <a:extLst>
              <a:ext uri="{FF2B5EF4-FFF2-40B4-BE49-F238E27FC236}">
                <a16:creationId xmlns:a16="http://schemas.microsoft.com/office/drawing/2014/main" id="{64070E0A-2775-3CC1-A24E-FF9EA181E6A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589" y="2355021"/>
            <a:ext cx="3041211" cy="921579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F2083252-5C4F-791B-8757-5F00BB667FC4}"/>
              </a:ext>
            </a:extLst>
          </p:cNvPr>
          <p:cNvSpPr txBox="1"/>
          <p:nvPr/>
        </p:nvSpPr>
        <p:spPr>
          <a:xfrm>
            <a:off x="5959838" y="1981200"/>
            <a:ext cx="2288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V12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CoDiSum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]</a:t>
            </a:r>
            <a:endParaRPr lang="it-IT" dirty="0"/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8F1DBB9B-B2EE-6E62-13C4-DD18C46A3800}"/>
              </a:ext>
            </a:extLst>
          </p:cNvPr>
          <p:cNvSpPr txBox="1"/>
          <p:nvPr/>
        </p:nvSpPr>
        <p:spPr>
          <a:xfrm>
            <a:off x="6026589" y="3266537"/>
            <a:ext cx="31686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/>
              <a:t>90661 coppie (diff, </a:t>
            </a:r>
            <a:r>
              <a:rPr lang="it-IT" sz="1200" dirty="0" err="1"/>
              <a:t>message</a:t>
            </a:r>
            <a:r>
              <a:rPr lang="it-IT" sz="1200" dirty="0"/>
              <a:t>). split 80/10/10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B2825ABB-E95B-E01D-3562-A40A52A4C1EA}"/>
              </a:ext>
            </a:extLst>
          </p:cNvPr>
          <p:cNvSpPr txBox="1"/>
          <p:nvPr/>
        </p:nvSpPr>
        <p:spPr>
          <a:xfrm>
            <a:off x="6036038" y="3757089"/>
            <a:ext cx="2798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MCMD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[RACE\KADEL]</a:t>
            </a:r>
            <a:endParaRPr lang="it-IT" dirty="0"/>
          </a:p>
        </p:txBody>
      </p:sp>
      <p:pic>
        <p:nvPicPr>
          <p:cNvPr id="38" name="Immagine 37" descr="Immagine che contiene testo, ricevuta, algebra, strumento&#10;&#10;Il contenuto generato dall'IA potrebbe non essere corretto.">
            <a:extLst>
              <a:ext uri="{FF2B5EF4-FFF2-40B4-BE49-F238E27FC236}">
                <a16:creationId xmlns:a16="http://schemas.microsoft.com/office/drawing/2014/main" id="{CEF25397-F71C-EDDC-F8E2-E8ECA61FE22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5070" y="4126421"/>
            <a:ext cx="2123043" cy="1061522"/>
          </a:xfrm>
          <a:prstGeom prst="rect">
            <a:avLst/>
          </a:prstGeom>
        </p:spPr>
      </p:pic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E559D66A-8A83-6058-A265-D7DF90AD8E11}"/>
              </a:ext>
            </a:extLst>
          </p:cNvPr>
          <p:cNvSpPr txBox="1"/>
          <p:nvPr/>
        </p:nvSpPr>
        <p:spPr>
          <a:xfrm>
            <a:off x="6084443" y="5076475"/>
            <a:ext cx="25930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50k train, 5k valid/test</a:t>
            </a:r>
            <a:endParaRPr lang="it-IT" sz="1400" dirty="0"/>
          </a:p>
        </p:txBody>
      </p:sp>
      <p:pic>
        <p:nvPicPr>
          <p:cNvPr id="40" name="Immagine 39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F8B2E0AA-D9C7-5404-8765-AB809C99B0B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9" name="Freeform 9" descr="image2.png"/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14" name="Freeform 14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16" name="Freeform 16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23" name="Freeform 23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743" y="59804"/>
            <a:ext cx="8718449" cy="902045"/>
            <a:chOff x="0" y="0"/>
            <a:chExt cx="11624598" cy="1202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24598" cy="1202726"/>
            </a:xfrm>
            <a:custGeom>
              <a:avLst/>
              <a:gdLst/>
              <a:ahLst/>
              <a:cxnLst/>
              <a:rect l="l" t="t" r="r" b="b"/>
              <a:pathLst>
                <a:path w="11624598" h="1202726">
                  <a:moveTo>
                    <a:pt x="0" y="0"/>
                  </a:moveTo>
                  <a:lnTo>
                    <a:pt x="11624598" y="0"/>
                  </a:lnTo>
                  <a:lnTo>
                    <a:pt x="11624598" y="1202726"/>
                  </a:lnTo>
                  <a:lnTo>
                    <a:pt x="0" y="120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1624598" cy="11265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3375" b="1" spc="-6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Fasi Sperimentali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919224" y="4097068"/>
            <a:ext cx="1452629" cy="1452629"/>
          </a:xfrm>
          <a:custGeom>
            <a:avLst/>
            <a:gdLst/>
            <a:ahLst/>
            <a:cxnLst/>
            <a:rect l="l" t="t" r="r" b="b"/>
            <a:pathLst>
              <a:path w="1452629" h="1452629">
                <a:moveTo>
                  <a:pt x="0" y="0"/>
                </a:moveTo>
                <a:lnTo>
                  <a:pt x="1452629" y="0"/>
                </a:lnTo>
                <a:lnTo>
                  <a:pt x="1452629" y="1452629"/>
                </a:lnTo>
                <a:lnTo>
                  <a:pt x="0" y="14526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8" name="AutoShape 28"/>
          <p:cNvSpPr/>
          <p:nvPr/>
        </p:nvSpPr>
        <p:spPr>
          <a:xfrm>
            <a:off x="2437993" y="4823382"/>
            <a:ext cx="894953" cy="0"/>
          </a:xfrm>
          <a:prstGeom prst="line">
            <a:avLst/>
          </a:prstGeom>
          <a:ln w="38100" cap="flat">
            <a:solidFill>
              <a:srgbClr val="9E1F38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29" name="Freeform 29"/>
          <p:cNvSpPr/>
          <p:nvPr/>
        </p:nvSpPr>
        <p:spPr>
          <a:xfrm>
            <a:off x="3412451" y="4084156"/>
            <a:ext cx="1465540" cy="1465540"/>
          </a:xfrm>
          <a:custGeom>
            <a:avLst/>
            <a:gdLst/>
            <a:ahLst/>
            <a:cxnLst/>
            <a:rect l="l" t="t" r="r" b="b"/>
            <a:pathLst>
              <a:path w="1465540" h="1465540">
                <a:moveTo>
                  <a:pt x="0" y="0"/>
                </a:moveTo>
                <a:lnTo>
                  <a:pt x="1465540" y="0"/>
                </a:lnTo>
                <a:lnTo>
                  <a:pt x="1465540" y="1465541"/>
                </a:lnTo>
                <a:lnTo>
                  <a:pt x="0" y="146554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0" name="TextBox 30"/>
          <p:cNvSpPr txBox="1"/>
          <p:nvPr/>
        </p:nvSpPr>
        <p:spPr>
          <a:xfrm>
            <a:off x="919224" y="1331167"/>
            <a:ext cx="6951630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4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Fase 2 - </a:t>
            </a: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Configurazione</a:t>
            </a: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tokenizzatore</a:t>
            </a:r>
            <a:endParaRPr lang="en-US" sz="2600" b="1" dirty="0">
              <a:solidFill>
                <a:srgbClr val="000000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4954191" y="4797876"/>
            <a:ext cx="894953" cy="0"/>
          </a:xfrm>
          <a:prstGeom prst="line">
            <a:avLst/>
          </a:prstGeom>
          <a:ln w="38100" cap="flat">
            <a:solidFill>
              <a:srgbClr val="9E1F38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35" name="Rectangle 1">
            <a:extLst>
              <a:ext uri="{FF2B5EF4-FFF2-40B4-BE49-F238E27FC236}">
                <a16:creationId xmlns:a16="http://schemas.microsoft.com/office/drawing/2014/main" id="{4B109755-B1FB-603D-A247-98D69DB19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54313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pic>
        <p:nvPicPr>
          <p:cNvPr id="45" name="Immagine 44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8B49AC95-62F4-D0B8-32B2-ED9C8F25E01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1905000"/>
            <a:ext cx="4564901" cy="2186293"/>
          </a:xfrm>
          <a:prstGeom prst="rect">
            <a:avLst/>
          </a:prstGeom>
        </p:spPr>
      </p:pic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C382187B-09AF-25DC-8595-188CCD1F0490}"/>
              </a:ext>
            </a:extLst>
          </p:cNvPr>
          <p:cNvSpPr txBox="1"/>
          <p:nvPr/>
        </p:nvSpPr>
        <p:spPr>
          <a:xfrm>
            <a:off x="6356233" y="2679924"/>
            <a:ext cx="21831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Troncamento dei diff a </a:t>
            </a:r>
            <a:r>
              <a:rPr lang="it-IT" b="1" dirty="0"/>
              <a:t>200 token</a:t>
            </a:r>
            <a:r>
              <a:rPr lang="it-IT" dirty="0"/>
              <a:t> e dei messaggi a </a:t>
            </a:r>
            <a:r>
              <a:rPr lang="it-IT" b="1" dirty="0"/>
              <a:t>30 token</a:t>
            </a:r>
            <a:endParaRPr lang="it-IT" dirty="0"/>
          </a:p>
        </p:txBody>
      </p:sp>
      <p:sp>
        <p:nvSpPr>
          <p:cNvPr id="48" name="Freeform 38">
            <a:extLst>
              <a:ext uri="{FF2B5EF4-FFF2-40B4-BE49-F238E27FC236}">
                <a16:creationId xmlns:a16="http://schemas.microsoft.com/office/drawing/2014/main" id="{E039637A-D4F5-C2A3-A1A7-FAEB4E577C1C}"/>
              </a:ext>
            </a:extLst>
          </p:cNvPr>
          <p:cNvSpPr/>
          <p:nvPr/>
        </p:nvSpPr>
        <p:spPr>
          <a:xfrm>
            <a:off x="6064367" y="2743200"/>
            <a:ext cx="336433" cy="336433"/>
          </a:xfrm>
          <a:custGeom>
            <a:avLst/>
            <a:gdLst/>
            <a:ahLst/>
            <a:cxnLst/>
            <a:rect l="l" t="t" r="r" b="b"/>
            <a:pathLst>
              <a:path w="681584" h="681584">
                <a:moveTo>
                  <a:pt x="0" y="0"/>
                </a:moveTo>
                <a:lnTo>
                  <a:pt x="681583" y="0"/>
                </a:lnTo>
                <a:lnTo>
                  <a:pt x="681583" y="681584"/>
                </a:lnTo>
                <a:lnTo>
                  <a:pt x="0" y="6815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pic>
        <p:nvPicPr>
          <p:cNvPr id="49" name="Immagine 48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D2F840E2-8D1A-9970-37ED-9107F698D61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9" name="Freeform 9" descr="image2.png"/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14" name="Freeform 14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16" name="Freeform 16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23" name="Freeform 23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743" y="59804"/>
            <a:ext cx="8718449" cy="902045"/>
            <a:chOff x="0" y="0"/>
            <a:chExt cx="11624598" cy="1202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24598" cy="1202726"/>
            </a:xfrm>
            <a:custGeom>
              <a:avLst/>
              <a:gdLst/>
              <a:ahLst/>
              <a:cxnLst/>
              <a:rect l="l" t="t" r="r" b="b"/>
              <a:pathLst>
                <a:path w="11624598" h="1202726">
                  <a:moveTo>
                    <a:pt x="0" y="0"/>
                  </a:moveTo>
                  <a:lnTo>
                    <a:pt x="11624598" y="0"/>
                  </a:lnTo>
                  <a:lnTo>
                    <a:pt x="11624598" y="1202726"/>
                  </a:lnTo>
                  <a:lnTo>
                    <a:pt x="0" y="120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1624598" cy="11265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3375" b="1" spc="-6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Fasi Sperimentali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919224" y="4097068"/>
            <a:ext cx="1452629" cy="1452629"/>
          </a:xfrm>
          <a:custGeom>
            <a:avLst/>
            <a:gdLst/>
            <a:ahLst/>
            <a:cxnLst/>
            <a:rect l="l" t="t" r="r" b="b"/>
            <a:pathLst>
              <a:path w="1452629" h="1452629">
                <a:moveTo>
                  <a:pt x="0" y="0"/>
                </a:moveTo>
                <a:lnTo>
                  <a:pt x="1452629" y="0"/>
                </a:lnTo>
                <a:lnTo>
                  <a:pt x="1452629" y="1452629"/>
                </a:lnTo>
                <a:lnTo>
                  <a:pt x="0" y="14526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8" name="AutoShape 28"/>
          <p:cNvSpPr/>
          <p:nvPr/>
        </p:nvSpPr>
        <p:spPr>
          <a:xfrm>
            <a:off x="2437993" y="4823382"/>
            <a:ext cx="894953" cy="0"/>
          </a:xfrm>
          <a:prstGeom prst="line">
            <a:avLst/>
          </a:prstGeom>
          <a:ln w="38100" cap="flat">
            <a:solidFill>
              <a:srgbClr val="9E1F38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29" name="Freeform 29"/>
          <p:cNvSpPr/>
          <p:nvPr/>
        </p:nvSpPr>
        <p:spPr>
          <a:xfrm>
            <a:off x="3412451" y="4084156"/>
            <a:ext cx="1465540" cy="1465540"/>
          </a:xfrm>
          <a:custGeom>
            <a:avLst/>
            <a:gdLst/>
            <a:ahLst/>
            <a:cxnLst/>
            <a:rect l="l" t="t" r="r" b="b"/>
            <a:pathLst>
              <a:path w="1465540" h="1465540">
                <a:moveTo>
                  <a:pt x="0" y="0"/>
                </a:moveTo>
                <a:lnTo>
                  <a:pt x="1465540" y="0"/>
                </a:lnTo>
                <a:lnTo>
                  <a:pt x="1465540" y="1465541"/>
                </a:lnTo>
                <a:lnTo>
                  <a:pt x="0" y="146554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0" name="AutoShape 30"/>
          <p:cNvSpPr/>
          <p:nvPr/>
        </p:nvSpPr>
        <p:spPr>
          <a:xfrm>
            <a:off x="4954191" y="4797876"/>
            <a:ext cx="894953" cy="0"/>
          </a:xfrm>
          <a:prstGeom prst="line">
            <a:avLst/>
          </a:prstGeom>
          <a:ln w="38100" cap="flat">
            <a:solidFill>
              <a:srgbClr val="9E1F38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31" name="Freeform 31"/>
          <p:cNvSpPr/>
          <p:nvPr/>
        </p:nvSpPr>
        <p:spPr>
          <a:xfrm>
            <a:off x="5915820" y="4159328"/>
            <a:ext cx="1423516" cy="1423516"/>
          </a:xfrm>
          <a:custGeom>
            <a:avLst/>
            <a:gdLst/>
            <a:ahLst/>
            <a:cxnLst/>
            <a:rect l="l" t="t" r="r" b="b"/>
            <a:pathLst>
              <a:path w="1423516" h="1423516">
                <a:moveTo>
                  <a:pt x="0" y="0"/>
                </a:moveTo>
                <a:lnTo>
                  <a:pt x="1423516" y="0"/>
                </a:lnTo>
                <a:lnTo>
                  <a:pt x="1423516" y="1423516"/>
                </a:lnTo>
                <a:lnTo>
                  <a:pt x="0" y="142351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2" name="TextBox 32"/>
          <p:cNvSpPr txBox="1"/>
          <p:nvPr/>
        </p:nvSpPr>
        <p:spPr>
          <a:xfrm>
            <a:off x="919224" y="1331167"/>
            <a:ext cx="5761196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4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Fase 3 - </a:t>
            </a: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Costruzione</a:t>
            </a: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del </a:t>
            </a: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modello</a:t>
            </a:r>
            <a:endParaRPr lang="en-US" sz="2600" b="1" dirty="0">
              <a:solidFill>
                <a:srgbClr val="000000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533401" y="1828800"/>
            <a:ext cx="2514600" cy="1938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it-IT" b="1" dirty="0" err="1"/>
              <a:t>CoDiSum</a:t>
            </a:r>
            <a:r>
              <a:rPr lang="it-IT" b="1" dirty="0"/>
              <a:t> (</a:t>
            </a:r>
            <a:r>
              <a:rPr lang="it-IT" b="1" dirty="0" err="1"/>
              <a:t>CopyNetPlus</a:t>
            </a:r>
            <a:r>
              <a:rPr lang="it-IT" b="1" dirty="0"/>
              <a:t>)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Architettura GRU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Attenzione Luong + meccanismo di copia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Manca la struttura AST e la sostituzione degli identificatori</a:t>
            </a:r>
          </a:p>
        </p:txBody>
      </p:sp>
      <p:sp>
        <p:nvSpPr>
          <p:cNvPr id="34" name="AutoShape 34"/>
          <p:cNvSpPr/>
          <p:nvPr/>
        </p:nvSpPr>
        <p:spPr>
          <a:xfrm>
            <a:off x="7415536" y="4778826"/>
            <a:ext cx="894953" cy="0"/>
          </a:xfrm>
          <a:prstGeom prst="line">
            <a:avLst/>
          </a:prstGeom>
          <a:ln w="38100" cap="flat">
            <a:solidFill>
              <a:srgbClr val="9E1F38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Box 33">
            <a:extLst>
              <a:ext uri="{FF2B5EF4-FFF2-40B4-BE49-F238E27FC236}">
                <a16:creationId xmlns:a16="http://schemas.microsoft.com/office/drawing/2014/main" id="{19981FF6-3C03-B493-10F3-BCFE46B03401}"/>
              </a:ext>
            </a:extLst>
          </p:cNvPr>
          <p:cNvSpPr txBox="1"/>
          <p:nvPr/>
        </p:nvSpPr>
        <p:spPr>
          <a:xfrm>
            <a:off x="3156179" y="1842664"/>
            <a:ext cx="3016021" cy="1938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it-IT" b="1" dirty="0"/>
              <a:t>RACE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Backbone</a:t>
            </a:r>
            <a:r>
              <a:rPr lang="it-IT" dirty="0"/>
              <a:t>: CodeT5-base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Retrieval</a:t>
            </a:r>
            <a:r>
              <a:rPr lang="it-IT" dirty="0"/>
              <a:t> di un </a:t>
            </a:r>
            <a:r>
              <a:rPr lang="it-IT" dirty="0" err="1"/>
              <a:t>commit</a:t>
            </a:r>
            <a:r>
              <a:rPr lang="it-IT" dirty="0"/>
              <a:t> simile tramite similarità coseno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Fusione input + </a:t>
            </a:r>
            <a:r>
              <a:rPr lang="it-IT" dirty="0" err="1"/>
              <a:t>commit</a:t>
            </a:r>
            <a:r>
              <a:rPr lang="it-IT" dirty="0"/>
              <a:t> esemplare (</a:t>
            </a:r>
            <a:r>
              <a:rPr lang="it-IT" dirty="0" err="1"/>
              <a:t>exemplar</a:t>
            </a:r>
            <a:r>
              <a:rPr lang="it-IT" dirty="0"/>
              <a:t> </a:t>
            </a:r>
            <a:r>
              <a:rPr lang="it-IT" dirty="0" err="1"/>
              <a:t>guider</a:t>
            </a:r>
            <a:r>
              <a:rPr lang="it-IT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Beam</a:t>
            </a:r>
            <a:r>
              <a:rPr lang="it-IT" dirty="0"/>
              <a:t> </a:t>
            </a:r>
            <a:r>
              <a:rPr lang="it-IT" dirty="0" err="1"/>
              <a:t>search</a:t>
            </a:r>
            <a:endParaRPr lang="it-IT" dirty="0"/>
          </a:p>
        </p:txBody>
      </p:sp>
      <p:sp>
        <p:nvSpPr>
          <p:cNvPr id="36" name="TextBox 33">
            <a:extLst>
              <a:ext uri="{FF2B5EF4-FFF2-40B4-BE49-F238E27FC236}">
                <a16:creationId xmlns:a16="http://schemas.microsoft.com/office/drawing/2014/main" id="{5776900A-02D8-4E11-B4AC-613F39470440}"/>
              </a:ext>
            </a:extLst>
          </p:cNvPr>
          <p:cNvSpPr txBox="1"/>
          <p:nvPr/>
        </p:nvSpPr>
        <p:spPr>
          <a:xfrm>
            <a:off x="6238876" y="1788309"/>
            <a:ext cx="3179542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it-IT" b="1" dirty="0"/>
              <a:t>KADEL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Backbone</a:t>
            </a:r>
            <a:r>
              <a:rPr lang="it-IT" dirty="0"/>
              <a:t>: CodeT5-small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Decomposizione del messaggio in componenti “note” e “da generare”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Co-training: dà più peso agli esempi più affidabili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Gestione esplicita di segmenti e posizioni</a:t>
            </a:r>
          </a:p>
        </p:txBody>
      </p:sp>
      <p:pic>
        <p:nvPicPr>
          <p:cNvPr id="38" name="Immagine 37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646E2CAC-77CA-3C75-EA55-5EC7E43A8E3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9" name="Freeform 9" descr="image2.png"/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14" name="Freeform 14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16" name="Freeform 16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23" name="Freeform 23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743" y="59804"/>
            <a:ext cx="8718449" cy="902045"/>
            <a:chOff x="0" y="0"/>
            <a:chExt cx="11624598" cy="1202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24598" cy="1202726"/>
            </a:xfrm>
            <a:custGeom>
              <a:avLst/>
              <a:gdLst/>
              <a:ahLst/>
              <a:cxnLst/>
              <a:rect l="l" t="t" r="r" b="b"/>
              <a:pathLst>
                <a:path w="11624598" h="1202726">
                  <a:moveTo>
                    <a:pt x="0" y="0"/>
                  </a:moveTo>
                  <a:lnTo>
                    <a:pt x="11624598" y="0"/>
                  </a:lnTo>
                  <a:lnTo>
                    <a:pt x="11624598" y="1202726"/>
                  </a:lnTo>
                  <a:lnTo>
                    <a:pt x="0" y="120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1624598" cy="11265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3375" b="1" spc="-6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Fasi Sperimentali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>
            <a:off x="955398" y="4797876"/>
            <a:ext cx="894953" cy="0"/>
          </a:xfrm>
          <a:prstGeom prst="line">
            <a:avLst/>
          </a:prstGeom>
          <a:ln w="38100" cap="flat">
            <a:solidFill>
              <a:srgbClr val="9E1F38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28" name="Freeform 28"/>
          <p:cNvSpPr/>
          <p:nvPr/>
        </p:nvSpPr>
        <p:spPr>
          <a:xfrm>
            <a:off x="2081652" y="4092653"/>
            <a:ext cx="1423516" cy="1423516"/>
          </a:xfrm>
          <a:custGeom>
            <a:avLst/>
            <a:gdLst/>
            <a:ahLst/>
            <a:cxnLst/>
            <a:rect l="l" t="t" r="r" b="b"/>
            <a:pathLst>
              <a:path w="1423516" h="1423516">
                <a:moveTo>
                  <a:pt x="0" y="0"/>
                </a:moveTo>
                <a:lnTo>
                  <a:pt x="1423516" y="0"/>
                </a:lnTo>
                <a:lnTo>
                  <a:pt x="1423516" y="1423516"/>
                </a:lnTo>
                <a:lnTo>
                  <a:pt x="0" y="14235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9" name="TextBox 29"/>
          <p:cNvSpPr txBox="1"/>
          <p:nvPr/>
        </p:nvSpPr>
        <p:spPr>
          <a:xfrm>
            <a:off x="919224" y="1331167"/>
            <a:ext cx="4390263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4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Fase 4 - </a:t>
            </a: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Addestramento</a:t>
            </a:r>
            <a:endParaRPr lang="en-US" sz="2600" b="1" dirty="0">
              <a:solidFill>
                <a:srgbClr val="000000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19224" y="2010488"/>
            <a:ext cx="4390263" cy="1062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8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GPU Tesla T4 (</a:t>
            </a:r>
            <a:r>
              <a:rPr lang="en-US" sz="20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Colab</a:t>
            </a:r>
            <a:r>
              <a:rPr lang="en-US" sz="20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Pro)</a:t>
            </a:r>
          </a:p>
          <a:p>
            <a:pPr marL="431801" lvl="1" indent="-215900" algn="l">
              <a:lnSpc>
                <a:spcPts val="288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Seed: 42 / 123 / 999</a:t>
            </a:r>
          </a:p>
          <a:p>
            <a:pPr marL="431801" lvl="1" indent="-215900" algn="l">
              <a:lnSpc>
                <a:spcPts val="2880"/>
              </a:lnSpc>
              <a:buFont typeface="Arial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Monitoraggio</a:t>
            </a:r>
            <a:r>
              <a:rPr lang="en-US" sz="20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loss </a:t>
            </a:r>
            <a:r>
              <a:rPr lang="en-US" sz="20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durante</a:t>
            </a:r>
            <a:r>
              <a:rPr lang="en-US" sz="20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il training</a:t>
            </a:r>
          </a:p>
        </p:txBody>
      </p:sp>
      <p:sp>
        <p:nvSpPr>
          <p:cNvPr id="31" name="AutoShape 31"/>
          <p:cNvSpPr/>
          <p:nvPr/>
        </p:nvSpPr>
        <p:spPr>
          <a:xfrm>
            <a:off x="3505168" y="4823461"/>
            <a:ext cx="894953" cy="0"/>
          </a:xfrm>
          <a:prstGeom prst="line">
            <a:avLst/>
          </a:prstGeom>
          <a:ln w="38100" cap="flat">
            <a:solidFill>
              <a:srgbClr val="9E1F38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14BE7C7A-84B1-8771-07BB-E00236906288}"/>
              </a:ext>
            </a:extLst>
          </p:cNvPr>
          <p:cNvSpPr txBox="1"/>
          <p:nvPr/>
        </p:nvSpPr>
        <p:spPr>
          <a:xfrm>
            <a:off x="4647141" y="3185923"/>
            <a:ext cx="48995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CoDiSum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 </a:t>
            </a:r>
            <a:r>
              <a:rPr lang="en-US" dirty="0" err="1"/>
              <a:t>epoche</a:t>
            </a:r>
            <a:r>
              <a:rPr lang="en-US" dirty="0"/>
              <a:t>, no early stopping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lr</a:t>
            </a:r>
            <a:r>
              <a:rPr lang="en-US" dirty="0"/>
              <a:t> = 1e-4, batch size 32</a:t>
            </a:r>
          </a:p>
          <a:p>
            <a:r>
              <a:rPr lang="en-US" b="1" dirty="0"/>
              <a:t>RACE: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8 </a:t>
            </a:r>
            <a:r>
              <a:rPr lang="en-US" dirty="0" err="1"/>
              <a:t>epoche</a:t>
            </a:r>
            <a:r>
              <a:rPr lang="en-US" dirty="0"/>
              <a:t>, early stopping </a:t>
            </a:r>
            <a:r>
              <a:rPr lang="en-US" dirty="0" err="1"/>
              <a:t>su</a:t>
            </a:r>
            <a:r>
              <a:rPr lang="en-US" dirty="0"/>
              <a:t> BLEU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lr</a:t>
            </a:r>
            <a:r>
              <a:rPr lang="en-US" dirty="0"/>
              <a:t> = 5e-5, batch size </a:t>
            </a:r>
            <a:r>
              <a:rPr lang="en-US" dirty="0" err="1"/>
              <a:t>effettivo</a:t>
            </a:r>
            <a:r>
              <a:rPr lang="en-US" dirty="0"/>
              <a:t> 16</a:t>
            </a:r>
          </a:p>
          <a:p>
            <a:r>
              <a:rPr lang="en-US" b="1" dirty="0"/>
              <a:t>KADEL: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 </a:t>
            </a:r>
            <a:r>
              <a:rPr lang="en-US" dirty="0" err="1"/>
              <a:t>epoche</a:t>
            </a:r>
            <a:r>
              <a:rPr lang="en-US" dirty="0"/>
              <a:t>, early stopping 5 </a:t>
            </a:r>
            <a:r>
              <a:rPr lang="en-US" dirty="0" err="1"/>
              <a:t>epoche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lr</a:t>
            </a:r>
            <a:r>
              <a:rPr lang="en-US" dirty="0"/>
              <a:t> = 5e-5, batch size 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co-training + template-aware generation</a:t>
            </a:r>
          </a:p>
        </p:txBody>
      </p:sp>
      <p:pic>
        <p:nvPicPr>
          <p:cNvPr id="41" name="Immagine 40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E5682ED0-07EA-A118-BC64-5F227B054F3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9" name="Freeform 9" descr="image2.png"/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14" name="Freeform 14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16" name="Freeform 16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23" name="Freeform 23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743" y="59804"/>
            <a:ext cx="8718449" cy="902045"/>
            <a:chOff x="0" y="0"/>
            <a:chExt cx="11624598" cy="1202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24598" cy="1202726"/>
            </a:xfrm>
            <a:custGeom>
              <a:avLst/>
              <a:gdLst/>
              <a:ahLst/>
              <a:cxnLst/>
              <a:rect l="l" t="t" r="r" b="b"/>
              <a:pathLst>
                <a:path w="11624598" h="1202726">
                  <a:moveTo>
                    <a:pt x="0" y="0"/>
                  </a:moveTo>
                  <a:lnTo>
                    <a:pt x="11624598" y="0"/>
                  </a:lnTo>
                  <a:lnTo>
                    <a:pt x="11624598" y="1202726"/>
                  </a:lnTo>
                  <a:lnTo>
                    <a:pt x="0" y="120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1624598" cy="11265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3375" b="1" spc="-6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Fasi Sperimentali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>
            <a:off x="955398" y="4797876"/>
            <a:ext cx="894953" cy="0"/>
          </a:xfrm>
          <a:prstGeom prst="line">
            <a:avLst/>
          </a:prstGeom>
          <a:ln w="38100" cap="flat">
            <a:solidFill>
              <a:srgbClr val="9E1F38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28" name="Freeform 28"/>
          <p:cNvSpPr/>
          <p:nvPr/>
        </p:nvSpPr>
        <p:spPr>
          <a:xfrm>
            <a:off x="2081652" y="4092653"/>
            <a:ext cx="1423516" cy="1423516"/>
          </a:xfrm>
          <a:custGeom>
            <a:avLst/>
            <a:gdLst/>
            <a:ahLst/>
            <a:cxnLst/>
            <a:rect l="l" t="t" r="r" b="b"/>
            <a:pathLst>
              <a:path w="1423516" h="1423516">
                <a:moveTo>
                  <a:pt x="0" y="0"/>
                </a:moveTo>
                <a:lnTo>
                  <a:pt x="1423516" y="0"/>
                </a:lnTo>
                <a:lnTo>
                  <a:pt x="1423516" y="1423516"/>
                </a:lnTo>
                <a:lnTo>
                  <a:pt x="0" y="14235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9" name="AutoShape 29"/>
          <p:cNvSpPr/>
          <p:nvPr/>
        </p:nvSpPr>
        <p:spPr>
          <a:xfrm>
            <a:off x="3505168" y="4823461"/>
            <a:ext cx="894953" cy="0"/>
          </a:xfrm>
          <a:prstGeom prst="line">
            <a:avLst/>
          </a:prstGeom>
          <a:ln w="38100" cap="flat">
            <a:solidFill>
              <a:srgbClr val="9E1F38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30" name="Freeform 30"/>
          <p:cNvSpPr/>
          <p:nvPr/>
        </p:nvSpPr>
        <p:spPr>
          <a:xfrm>
            <a:off x="4628722" y="4125990"/>
            <a:ext cx="1356841" cy="1356841"/>
          </a:xfrm>
          <a:custGeom>
            <a:avLst/>
            <a:gdLst/>
            <a:ahLst/>
            <a:cxnLst/>
            <a:rect l="l" t="t" r="r" b="b"/>
            <a:pathLst>
              <a:path w="1356841" h="1356841">
                <a:moveTo>
                  <a:pt x="0" y="0"/>
                </a:moveTo>
                <a:lnTo>
                  <a:pt x="1356841" y="0"/>
                </a:lnTo>
                <a:lnTo>
                  <a:pt x="1356841" y="1356842"/>
                </a:lnTo>
                <a:lnTo>
                  <a:pt x="0" y="135684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1" name="TextBox 31"/>
          <p:cNvSpPr txBox="1"/>
          <p:nvPr/>
        </p:nvSpPr>
        <p:spPr>
          <a:xfrm>
            <a:off x="919224" y="1331167"/>
            <a:ext cx="3881376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4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Fase 5 - </a:t>
            </a: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Valutazione</a:t>
            </a:r>
            <a:endParaRPr lang="en-US" sz="2600" b="1" dirty="0">
              <a:solidFill>
                <a:srgbClr val="000000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19224" y="2010488"/>
            <a:ext cx="5299424" cy="1062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Metriche testuali: BLEU, METEOR, ROUGE</a:t>
            </a:r>
          </a:p>
          <a:p>
            <a:pPr marL="431801" lvl="1" indent="-215900" algn="l">
              <a:lnSpc>
                <a:spcPts val="28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Metriche semantiche: CIDEr, CodeBLEU</a:t>
            </a:r>
          </a:p>
          <a:p>
            <a:pPr marL="431801" lvl="1" indent="-215900" algn="l">
              <a:lnSpc>
                <a:spcPts val="28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Specificità codice: Identifier Recall</a:t>
            </a:r>
          </a:p>
        </p:txBody>
      </p:sp>
      <p:sp>
        <p:nvSpPr>
          <p:cNvPr id="33" name="AutoShape 33"/>
          <p:cNvSpPr/>
          <p:nvPr/>
        </p:nvSpPr>
        <p:spPr>
          <a:xfrm>
            <a:off x="6218648" y="4823461"/>
            <a:ext cx="894953" cy="0"/>
          </a:xfrm>
          <a:prstGeom prst="line">
            <a:avLst/>
          </a:prstGeom>
          <a:ln w="38100" cap="flat">
            <a:solidFill>
              <a:srgbClr val="9E1F38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pic>
        <p:nvPicPr>
          <p:cNvPr id="34" name="Immagine 33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8BC142C0-9BD7-9AB3-A176-6B2145AFE38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9" name="Freeform 9" descr="image2.png"/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14" name="Freeform 14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16" name="Freeform 16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23" name="Freeform 23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743" y="59804"/>
            <a:ext cx="8718449" cy="902045"/>
            <a:chOff x="0" y="0"/>
            <a:chExt cx="11624598" cy="1202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24598" cy="1202726"/>
            </a:xfrm>
            <a:custGeom>
              <a:avLst/>
              <a:gdLst/>
              <a:ahLst/>
              <a:cxnLst/>
              <a:rect l="l" t="t" r="r" b="b"/>
              <a:pathLst>
                <a:path w="11624598" h="1202726">
                  <a:moveTo>
                    <a:pt x="0" y="0"/>
                  </a:moveTo>
                  <a:lnTo>
                    <a:pt x="11624598" y="0"/>
                  </a:lnTo>
                  <a:lnTo>
                    <a:pt x="11624598" y="1202726"/>
                  </a:lnTo>
                  <a:lnTo>
                    <a:pt x="0" y="120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1624598" cy="11265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3375" b="1" spc="-6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Fasi Sperimentali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>
            <a:off x="955398" y="4797876"/>
            <a:ext cx="894953" cy="0"/>
          </a:xfrm>
          <a:prstGeom prst="line">
            <a:avLst/>
          </a:prstGeom>
          <a:ln w="38100" cap="flat">
            <a:solidFill>
              <a:srgbClr val="9E1F38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28" name="Freeform 28"/>
          <p:cNvSpPr/>
          <p:nvPr/>
        </p:nvSpPr>
        <p:spPr>
          <a:xfrm>
            <a:off x="2081652" y="4092653"/>
            <a:ext cx="1423516" cy="1423516"/>
          </a:xfrm>
          <a:custGeom>
            <a:avLst/>
            <a:gdLst/>
            <a:ahLst/>
            <a:cxnLst/>
            <a:rect l="l" t="t" r="r" b="b"/>
            <a:pathLst>
              <a:path w="1423516" h="1423516">
                <a:moveTo>
                  <a:pt x="0" y="0"/>
                </a:moveTo>
                <a:lnTo>
                  <a:pt x="1423516" y="0"/>
                </a:lnTo>
                <a:lnTo>
                  <a:pt x="1423516" y="1423516"/>
                </a:lnTo>
                <a:lnTo>
                  <a:pt x="0" y="14235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9" name="AutoShape 29"/>
          <p:cNvSpPr/>
          <p:nvPr/>
        </p:nvSpPr>
        <p:spPr>
          <a:xfrm>
            <a:off x="3505168" y="4823461"/>
            <a:ext cx="894953" cy="0"/>
          </a:xfrm>
          <a:prstGeom prst="line">
            <a:avLst/>
          </a:prstGeom>
          <a:ln w="38100" cap="flat">
            <a:solidFill>
              <a:srgbClr val="9E1F38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30" name="Freeform 30"/>
          <p:cNvSpPr/>
          <p:nvPr/>
        </p:nvSpPr>
        <p:spPr>
          <a:xfrm>
            <a:off x="4628722" y="4125990"/>
            <a:ext cx="1356841" cy="1356841"/>
          </a:xfrm>
          <a:custGeom>
            <a:avLst/>
            <a:gdLst/>
            <a:ahLst/>
            <a:cxnLst/>
            <a:rect l="l" t="t" r="r" b="b"/>
            <a:pathLst>
              <a:path w="1356841" h="1356841">
                <a:moveTo>
                  <a:pt x="0" y="0"/>
                </a:moveTo>
                <a:lnTo>
                  <a:pt x="1356841" y="0"/>
                </a:lnTo>
                <a:lnTo>
                  <a:pt x="1356841" y="1356842"/>
                </a:lnTo>
                <a:lnTo>
                  <a:pt x="0" y="135684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1" name="AutoShape 31"/>
          <p:cNvSpPr/>
          <p:nvPr/>
        </p:nvSpPr>
        <p:spPr>
          <a:xfrm>
            <a:off x="6218648" y="4823461"/>
            <a:ext cx="894953" cy="0"/>
          </a:xfrm>
          <a:prstGeom prst="line">
            <a:avLst/>
          </a:prstGeom>
          <a:ln w="38100" cap="flat">
            <a:solidFill>
              <a:srgbClr val="9E1F38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32" name="Freeform 32"/>
          <p:cNvSpPr/>
          <p:nvPr/>
        </p:nvSpPr>
        <p:spPr>
          <a:xfrm>
            <a:off x="7342201" y="4125990"/>
            <a:ext cx="1423516" cy="1423516"/>
          </a:xfrm>
          <a:custGeom>
            <a:avLst/>
            <a:gdLst/>
            <a:ahLst/>
            <a:cxnLst/>
            <a:rect l="l" t="t" r="r" b="b"/>
            <a:pathLst>
              <a:path w="1423516" h="1423516">
                <a:moveTo>
                  <a:pt x="0" y="0"/>
                </a:moveTo>
                <a:lnTo>
                  <a:pt x="1423516" y="0"/>
                </a:lnTo>
                <a:lnTo>
                  <a:pt x="1423516" y="1423517"/>
                </a:lnTo>
                <a:lnTo>
                  <a:pt x="0" y="142351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3" name="TextBox 33"/>
          <p:cNvSpPr txBox="1"/>
          <p:nvPr/>
        </p:nvSpPr>
        <p:spPr>
          <a:xfrm>
            <a:off x="919224" y="1331167"/>
            <a:ext cx="4490976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4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Fase 6 - </a:t>
            </a: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Analisi</a:t>
            </a: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statistica</a:t>
            </a:r>
            <a:endParaRPr lang="en-US" sz="2600" b="1" dirty="0">
              <a:solidFill>
                <a:srgbClr val="000000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919224" y="2010488"/>
            <a:ext cx="3957575" cy="1090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58801" lvl="1" indent="-342900">
              <a:lnSpc>
                <a:spcPts val="288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Shapiro–Wilk → normalità</a:t>
            </a:r>
          </a:p>
          <a:p>
            <a:pPr marL="558801" lvl="1" indent="-342900">
              <a:lnSpc>
                <a:spcPts val="2880"/>
              </a:lnSpc>
              <a:buFont typeface="Arial" panose="020B0604020202020204" pitchFamily="34" charset="0"/>
              <a:buChar char="•"/>
            </a:pPr>
            <a:r>
              <a:rPr lang="it-IT" sz="2000" dirty="0" err="1"/>
              <a:t>Levene</a:t>
            </a:r>
            <a:r>
              <a:rPr lang="it-IT" sz="2000" dirty="0"/>
              <a:t> → omogeneità varianze</a:t>
            </a:r>
          </a:p>
          <a:p>
            <a:pPr marL="558801" lvl="1" indent="-342900">
              <a:lnSpc>
                <a:spcPts val="288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t-test (p &lt; 0.05)</a:t>
            </a:r>
          </a:p>
        </p:txBody>
      </p:sp>
      <p:sp>
        <p:nvSpPr>
          <p:cNvPr id="38" name="TextBox 34">
            <a:extLst>
              <a:ext uri="{FF2B5EF4-FFF2-40B4-BE49-F238E27FC236}">
                <a16:creationId xmlns:a16="http://schemas.microsoft.com/office/drawing/2014/main" id="{8A856E7D-C4DD-7738-13EE-C44E0CF8BA8E}"/>
              </a:ext>
            </a:extLst>
          </p:cNvPr>
          <p:cNvSpPr txBox="1"/>
          <p:nvPr/>
        </p:nvSpPr>
        <p:spPr>
          <a:xfrm>
            <a:off x="4634701" y="1996730"/>
            <a:ext cx="3957575" cy="1090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58801" lvl="1" indent="-342900">
              <a:lnSpc>
                <a:spcPts val="2880"/>
              </a:lnSpc>
              <a:buFont typeface="Arial" panose="020B0604020202020204" pitchFamily="34" charset="0"/>
              <a:buChar char="•"/>
            </a:pPr>
            <a:r>
              <a:rPr lang="it-IT" sz="2000" dirty="0" err="1"/>
              <a:t>Cohen’s</a:t>
            </a:r>
            <a:r>
              <a:rPr lang="it-IT" sz="2000" dirty="0"/>
              <a:t> d → ampiezza effetto</a:t>
            </a:r>
          </a:p>
          <a:p>
            <a:pPr marL="558801" lvl="1" indent="-342900">
              <a:lnSpc>
                <a:spcPts val="288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CI al 95%</a:t>
            </a:r>
          </a:p>
          <a:p>
            <a:pPr marL="558801" lvl="1" indent="-342900">
              <a:lnSpc>
                <a:spcPts val="288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Correzione di Holm–Bonferroni</a:t>
            </a:r>
          </a:p>
        </p:txBody>
      </p:sp>
      <p:pic>
        <p:nvPicPr>
          <p:cNvPr id="39" name="Immagine 38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9F330648-833D-D6DB-6A27-4358BA33BD41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9" name="Freeform 9" descr="image2.png"/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14" name="Freeform 14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16" name="Freeform 16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23" name="Freeform 23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743" y="59804"/>
            <a:ext cx="8718449" cy="902045"/>
            <a:chOff x="0" y="0"/>
            <a:chExt cx="11624598" cy="1202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24598" cy="1202726"/>
            </a:xfrm>
            <a:custGeom>
              <a:avLst/>
              <a:gdLst/>
              <a:ahLst/>
              <a:cxnLst/>
              <a:rect l="l" t="t" r="r" b="b"/>
              <a:pathLst>
                <a:path w="11624598" h="1202726">
                  <a:moveTo>
                    <a:pt x="0" y="0"/>
                  </a:moveTo>
                  <a:lnTo>
                    <a:pt x="11624598" y="0"/>
                  </a:lnTo>
                  <a:lnTo>
                    <a:pt x="11624598" y="1202726"/>
                  </a:lnTo>
                  <a:lnTo>
                    <a:pt x="0" y="120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1624598" cy="11265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3375" b="1" spc="-6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Analisi dei Risultati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817164" y="1498706"/>
            <a:ext cx="5888436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4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RQ1 – </a:t>
            </a: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Riproducibilità</a:t>
            </a: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di </a:t>
            </a: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CoDiSum</a:t>
            </a:r>
            <a:endParaRPr lang="en-US" sz="2600" b="1" dirty="0">
              <a:solidFill>
                <a:srgbClr val="000000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pic>
        <p:nvPicPr>
          <p:cNvPr id="34" name="Immagine 33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063FE13C-5CEF-67C8-8995-38B889AB150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630" y="1922324"/>
            <a:ext cx="7548340" cy="4193522"/>
          </a:xfrm>
          <a:prstGeom prst="rect">
            <a:avLst/>
          </a:prstGeom>
        </p:spPr>
      </p:pic>
      <p:pic>
        <p:nvPicPr>
          <p:cNvPr id="35" name="Immagine 34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203711A7-2245-F390-3873-FF68683BF9D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DD10B-B1FB-D684-43CD-DF0842636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7E67BA5-AACB-0E99-BBAB-4932E49F8EF5}"/>
              </a:ext>
            </a:extLst>
          </p:cNvPr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4033E25-FF10-86E8-5F3D-7011E8FF049E}"/>
                </a:ext>
              </a:extLst>
            </p:cNvPr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88E09BC-CD56-CF8F-D411-235960FB051A}"/>
                </a:ext>
              </a:extLst>
            </p:cNvPr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C2F9181-8D91-9E11-FB97-41533CAF4AFC}"/>
              </a:ext>
            </a:extLst>
          </p:cNvPr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0BFA4D8-632A-ECA4-C3BE-54E647B987BA}"/>
                </a:ext>
              </a:extLst>
            </p:cNvPr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A1C3DCE-13B9-AFFE-F7CA-5AA0BED596C0}"/>
                </a:ext>
              </a:extLst>
            </p:cNvPr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E724FC6-DFE6-BB24-27F3-98F9AF3A6F2D}"/>
              </a:ext>
            </a:extLst>
          </p:cNvPr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9" name="Freeform 9" descr="image2.png">
              <a:extLst>
                <a:ext uri="{FF2B5EF4-FFF2-40B4-BE49-F238E27FC236}">
                  <a16:creationId xmlns:a16="http://schemas.microsoft.com/office/drawing/2014/main" id="{2B1662A9-889E-C793-255E-15CFB10AE2A5}"/>
                </a:ext>
              </a:extLst>
            </p:cNvPr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4806A46-837C-1CAD-7842-77AB72F1200B}"/>
              </a:ext>
            </a:extLst>
          </p:cNvPr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DA4244C-6309-8DCF-2EA9-76231B8E2D40}"/>
                </a:ext>
              </a:extLst>
            </p:cNvPr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2C1CCE8-884C-B74A-6E82-022402623147}"/>
                </a:ext>
              </a:extLst>
            </p:cNvPr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DEF8EEA1-1629-2027-36FF-65903B4177BC}"/>
              </a:ext>
            </a:extLst>
          </p:cNvPr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14" name="Freeform 14" descr="world-wide-web.png">
              <a:extLst>
                <a:ext uri="{FF2B5EF4-FFF2-40B4-BE49-F238E27FC236}">
                  <a16:creationId xmlns:a16="http://schemas.microsoft.com/office/drawing/2014/main" id="{AFCC3241-C71A-FFEA-EA6D-DA0D6CB32CD9}"/>
                </a:ext>
              </a:extLst>
            </p:cNvPr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96EDF3DD-8CE9-1FA3-B8FC-6DAA32828267}"/>
              </a:ext>
            </a:extLst>
          </p:cNvPr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16" name="Freeform 16" descr="email.png">
              <a:extLst>
                <a:ext uri="{FF2B5EF4-FFF2-40B4-BE49-F238E27FC236}">
                  <a16:creationId xmlns:a16="http://schemas.microsoft.com/office/drawing/2014/main" id="{0701E1D0-6646-DEBC-D024-62C60636BF1A}"/>
                </a:ext>
              </a:extLst>
            </p:cNvPr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8E04788-0E45-D8ED-1AAE-BE832E1622C9}"/>
              </a:ext>
            </a:extLst>
          </p:cNvPr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23" name="Freeform 23" descr="linkedin(1).png">
              <a:extLst>
                <a:ext uri="{FF2B5EF4-FFF2-40B4-BE49-F238E27FC236}">
                  <a16:creationId xmlns:a16="http://schemas.microsoft.com/office/drawing/2014/main" id="{796CB22D-7DC7-6D53-AEAE-BAE07E923FB2}"/>
                </a:ext>
              </a:extLst>
            </p:cNvPr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79602C96-526A-AF0C-5C6D-D40BB089C994}"/>
              </a:ext>
            </a:extLst>
          </p:cNvPr>
          <p:cNvGrpSpPr/>
          <p:nvPr/>
        </p:nvGrpSpPr>
        <p:grpSpPr>
          <a:xfrm>
            <a:off x="476743" y="59804"/>
            <a:ext cx="8718449" cy="902045"/>
            <a:chOff x="0" y="0"/>
            <a:chExt cx="11624598" cy="1202726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7B5C6274-1B0A-2755-7BD7-06BFC8F716E7}"/>
                </a:ext>
              </a:extLst>
            </p:cNvPr>
            <p:cNvSpPr/>
            <p:nvPr/>
          </p:nvSpPr>
          <p:spPr>
            <a:xfrm>
              <a:off x="0" y="0"/>
              <a:ext cx="11624598" cy="1202726"/>
            </a:xfrm>
            <a:custGeom>
              <a:avLst/>
              <a:gdLst/>
              <a:ahLst/>
              <a:cxnLst/>
              <a:rect l="l" t="t" r="r" b="b"/>
              <a:pathLst>
                <a:path w="11624598" h="1202726">
                  <a:moveTo>
                    <a:pt x="0" y="0"/>
                  </a:moveTo>
                  <a:lnTo>
                    <a:pt x="11624598" y="0"/>
                  </a:lnTo>
                  <a:lnTo>
                    <a:pt x="11624598" y="1202726"/>
                  </a:lnTo>
                  <a:lnTo>
                    <a:pt x="0" y="120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CFBFAC88-C868-8E6F-C10F-669654908CB9}"/>
                </a:ext>
              </a:extLst>
            </p:cNvPr>
            <p:cNvSpPr txBox="1"/>
            <p:nvPr/>
          </p:nvSpPr>
          <p:spPr>
            <a:xfrm>
              <a:off x="0" y="76200"/>
              <a:ext cx="11624598" cy="11265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3375" b="1" spc="-6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Analisi dei Risultati</a:t>
              </a:r>
            </a:p>
          </p:txBody>
        </p:sp>
      </p:grpSp>
      <p:sp>
        <p:nvSpPr>
          <p:cNvPr id="27" name="TextBox 27">
            <a:extLst>
              <a:ext uri="{FF2B5EF4-FFF2-40B4-BE49-F238E27FC236}">
                <a16:creationId xmlns:a16="http://schemas.microsoft.com/office/drawing/2014/main" id="{DEBD671B-F2D4-5D17-3778-8FEB6AA569B5}"/>
              </a:ext>
            </a:extLst>
          </p:cNvPr>
          <p:cNvSpPr txBox="1"/>
          <p:nvPr/>
        </p:nvSpPr>
        <p:spPr>
          <a:xfrm>
            <a:off x="817164" y="1498706"/>
            <a:ext cx="5888436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4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RQ1 – </a:t>
            </a: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Riproducibilità</a:t>
            </a: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di </a:t>
            </a: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CoDiSum</a:t>
            </a:r>
            <a:endParaRPr lang="en-US" sz="2600" b="1" dirty="0">
              <a:solidFill>
                <a:srgbClr val="000000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3CCA63B1-D23E-78DC-E6B9-5B43703CAE1E}"/>
              </a:ext>
            </a:extLst>
          </p:cNvPr>
          <p:cNvSpPr txBox="1"/>
          <p:nvPr/>
        </p:nvSpPr>
        <p:spPr>
          <a:xfrm>
            <a:off x="4629048" y="2523330"/>
            <a:ext cx="4153104" cy="19751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Cause del </a:t>
            </a:r>
            <a:r>
              <a:rPr lang="en-US" sz="18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fallimento</a:t>
            </a:r>
            <a:endParaRPr lang="en-US" sz="1800" b="1" dirty="0">
              <a:solidFill>
                <a:srgbClr val="000000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  <a:p>
            <a:pPr marL="388620" lvl="1" indent="-194310" algn="l">
              <a:lnSpc>
                <a:spcPts val="2592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Artefatto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incompleto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rispetto al paper (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mancano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AST, action-level,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sostituzione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ID).</a:t>
            </a:r>
          </a:p>
          <a:p>
            <a:pPr marL="388620" lvl="1" indent="-194310" algn="l">
              <a:lnSpc>
                <a:spcPts val="2592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Problema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indipendente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da seed, dataset e pipeline.</a:t>
            </a:r>
          </a:p>
        </p:txBody>
      </p:sp>
      <p:grpSp>
        <p:nvGrpSpPr>
          <p:cNvPr id="29" name="Group 29">
            <a:extLst>
              <a:ext uri="{FF2B5EF4-FFF2-40B4-BE49-F238E27FC236}">
                <a16:creationId xmlns:a16="http://schemas.microsoft.com/office/drawing/2014/main" id="{E75FA57B-BC6C-F793-7D42-38B39704FCB8}"/>
              </a:ext>
            </a:extLst>
          </p:cNvPr>
          <p:cNvGrpSpPr/>
          <p:nvPr/>
        </p:nvGrpSpPr>
        <p:grpSpPr>
          <a:xfrm>
            <a:off x="645876" y="5181600"/>
            <a:ext cx="8289296" cy="577743"/>
            <a:chOff x="0" y="0"/>
            <a:chExt cx="3070110" cy="267791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133944B5-B945-77B1-DF9C-86049DFA52B5}"/>
                </a:ext>
              </a:extLst>
            </p:cNvPr>
            <p:cNvSpPr/>
            <p:nvPr/>
          </p:nvSpPr>
          <p:spPr>
            <a:xfrm>
              <a:off x="0" y="0"/>
              <a:ext cx="3070110" cy="267791"/>
            </a:xfrm>
            <a:custGeom>
              <a:avLst/>
              <a:gdLst/>
              <a:ahLst/>
              <a:cxnLst/>
              <a:rect l="l" t="t" r="r" b="b"/>
              <a:pathLst>
                <a:path w="3070110" h="267791">
                  <a:moveTo>
                    <a:pt x="0" y="0"/>
                  </a:moveTo>
                  <a:lnTo>
                    <a:pt x="3070110" y="0"/>
                  </a:lnTo>
                  <a:lnTo>
                    <a:pt x="3070110" y="267791"/>
                  </a:lnTo>
                  <a:lnTo>
                    <a:pt x="0" y="2677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D0213"/>
              </a:solidFill>
              <a:prstDash val="solid"/>
              <a:miter/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09F00D41-AF9F-B85D-FEA4-3972AC038D30}"/>
                </a:ext>
              </a:extLst>
            </p:cNvPr>
            <p:cNvSpPr txBox="1"/>
            <p:nvPr/>
          </p:nvSpPr>
          <p:spPr>
            <a:xfrm>
              <a:off x="0" y="-38100"/>
              <a:ext cx="3070110" cy="305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44"/>
                </a:lnSpc>
              </a:pPr>
              <a:endParaRPr/>
            </a:p>
          </p:txBody>
        </p:sp>
      </p:grpSp>
      <p:sp>
        <p:nvSpPr>
          <p:cNvPr id="32" name="TextBox 32">
            <a:extLst>
              <a:ext uri="{FF2B5EF4-FFF2-40B4-BE49-F238E27FC236}">
                <a16:creationId xmlns:a16="http://schemas.microsoft.com/office/drawing/2014/main" id="{592976D8-1B06-E3C4-6979-FAB8F22815AE}"/>
              </a:ext>
            </a:extLst>
          </p:cNvPr>
          <p:cNvSpPr txBox="1"/>
          <p:nvPr/>
        </p:nvSpPr>
        <p:spPr>
          <a:xfrm>
            <a:off x="817165" y="5338590"/>
            <a:ext cx="7945836" cy="300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92"/>
              </a:lnSpc>
              <a:spcBef>
                <a:spcPct val="0"/>
              </a:spcBef>
            </a:pPr>
            <a:r>
              <a:rPr lang="en-US" sz="18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Conclusione</a:t>
            </a:r>
            <a:r>
              <a:rPr lang="en-US" sz="18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 </a:t>
            </a:r>
            <a:r>
              <a:rPr lang="en-US" sz="18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CoDiSum</a:t>
            </a:r>
            <a:r>
              <a:rPr lang="en-US" sz="18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non è </a:t>
            </a:r>
            <a:r>
              <a:rPr lang="en-US" sz="18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riproducibile</a:t>
            </a:r>
            <a:r>
              <a:rPr lang="en-US" sz="18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rispetto al paper </a:t>
            </a:r>
            <a:r>
              <a:rPr lang="en-US" sz="18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originale</a:t>
            </a:r>
            <a:r>
              <a:rPr lang="en-US" sz="18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.</a:t>
            </a:r>
          </a:p>
        </p:txBody>
      </p:sp>
      <p:pic>
        <p:nvPicPr>
          <p:cNvPr id="34" name="Immagine 33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387D4240-503E-0537-0089-9EBAD7BCA1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2090457"/>
            <a:ext cx="3218619" cy="2858710"/>
          </a:xfrm>
          <a:prstGeom prst="rect">
            <a:avLst/>
          </a:prstGeom>
        </p:spPr>
      </p:pic>
      <p:pic>
        <p:nvPicPr>
          <p:cNvPr id="35" name="Immagine 34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E15405DC-D4FB-8398-9E8E-81621FEE97D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984847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9" name="Freeform 9" descr="image2.png"/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14" name="Freeform 14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16" name="Freeform 16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23" name="Freeform 23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743" y="59804"/>
            <a:ext cx="8718449" cy="902045"/>
            <a:chOff x="0" y="0"/>
            <a:chExt cx="11624598" cy="1202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24598" cy="1202726"/>
            </a:xfrm>
            <a:custGeom>
              <a:avLst/>
              <a:gdLst/>
              <a:ahLst/>
              <a:cxnLst/>
              <a:rect l="l" t="t" r="r" b="b"/>
              <a:pathLst>
                <a:path w="11624598" h="1202726">
                  <a:moveTo>
                    <a:pt x="0" y="0"/>
                  </a:moveTo>
                  <a:lnTo>
                    <a:pt x="11624598" y="0"/>
                  </a:lnTo>
                  <a:lnTo>
                    <a:pt x="11624598" y="1202726"/>
                  </a:lnTo>
                  <a:lnTo>
                    <a:pt x="0" y="120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1624598" cy="11265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3375" b="1" spc="-6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Analisi dei Risultati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847137" y="1463696"/>
            <a:ext cx="7778762" cy="972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4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RQ2 - Confronto tra RACE e KADEL sul dataset condiviso </a:t>
            </a:r>
          </a:p>
        </p:txBody>
      </p:sp>
      <p:sp>
        <p:nvSpPr>
          <p:cNvPr id="28" name="Freeform 28"/>
          <p:cNvSpPr/>
          <p:nvPr/>
        </p:nvSpPr>
        <p:spPr>
          <a:xfrm>
            <a:off x="477236" y="2419539"/>
            <a:ext cx="8874506" cy="3803738"/>
          </a:xfrm>
          <a:custGeom>
            <a:avLst/>
            <a:gdLst/>
            <a:ahLst/>
            <a:cxnLst/>
            <a:rect l="l" t="t" r="r" b="b"/>
            <a:pathLst>
              <a:path w="7977660" h="3191064">
                <a:moveTo>
                  <a:pt x="0" y="0"/>
                </a:moveTo>
                <a:lnTo>
                  <a:pt x="7977660" y="0"/>
                </a:lnTo>
                <a:lnTo>
                  <a:pt x="7977660" y="3191064"/>
                </a:lnTo>
                <a:lnTo>
                  <a:pt x="0" y="31910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pic>
        <p:nvPicPr>
          <p:cNvPr id="29" name="Immagine 28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D0C68CB7-873E-7655-FC57-47EE886BD4B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9" name="Freeform 9" descr="image2.png"/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14" name="Freeform 14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16" name="Freeform 16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23" name="Freeform 23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743" y="59804"/>
            <a:ext cx="8718449" cy="902045"/>
            <a:chOff x="0" y="0"/>
            <a:chExt cx="11624598" cy="1202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24598" cy="1202726"/>
            </a:xfrm>
            <a:custGeom>
              <a:avLst/>
              <a:gdLst/>
              <a:ahLst/>
              <a:cxnLst/>
              <a:rect l="l" t="t" r="r" b="b"/>
              <a:pathLst>
                <a:path w="11624598" h="1202726">
                  <a:moveTo>
                    <a:pt x="0" y="0"/>
                  </a:moveTo>
                  <a:lnTo>
                    <a:pt x="11624598" y="0"/>
                  </a:lnTo>
                  <a:lnTo>
                    <a:pt x="11624598" y="1202726"/>
                  </a:lnTo>
                  <a:lnTo>
                    <a:pt x="0" y="120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1624598" cy="11265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3375" b="1" spc="-6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Analisi dei Risultati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33343" y="5315815"/>
            <a:ext cx="8289296" cy="856385"/>
            <a:chOff x="0" y="0"/>
            <a:chExt cx="3070110" cy="3171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070110" cy="317180"/>
            </a:xfrm>
            <a:custGeom>
              <a:avLst/>
              <a:gdLst/>
              <a:ahLst/>
              <a:cxnLst/>
              <a:rect l="l" t="t" r="r" b="b"/>
              <a:pathLst>
                <a:path w="3070110" h="317180">
                  <a:moveTo>
                    <a:pt x="0" y="0"/>
                  </a:moveTo>
                  <a:lnTo>
                    <a:pt x="3070110" y="0"/>
                  </a:lnTo>
                  <a:lnTo>
                    <a:pt x="3070110" y="317180"/>
                  </a:lnTo>
                  <a:lnTo>
                    <a:pt x="0" y="31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D0213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3070110" cy="355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44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34605" y="1391654"/>
            <a:ext cx="7778762" cy="475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4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RQ2 - Analisi qualitativa e statistica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5455" y="5402632"/>
            <a:ext cx="8345072" cy="644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8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RACE è complessivamente il modello più robusto e performante sul dataset condiviso, con vantaggi netti nelle metriche di qualità testuale e semantica.</a:t>
            </a:r>
          </a:p>
        </p:txBody>
      </p:sp>
      <p:graphicFrame>
        <p:nvGraphicFramePr>
          <p:cNvPr id="36" name="Tabella 35">
            <a:extLst>
              <a:ext uri="{FF2B5EF4-FFF2-40B4-BE49-F238E27FC236}">
                <a16:creationId xmlns:a16="http://schemas.microsoft.com/office/drawing/2014/main" id="{356FCC66-CB8B-B291-81CE-734F7F14FD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360686"/>
              </p:ext>
            </p:extLst>
          </p:nvPr>
        </p:nvGraphicFramePr>
        <p:xfrm>
          <a:off x="1723576" y="2047318"/>
          <a:ext cx="6306448" cy="2985070"/>
        </p:xfrm>
        <a:graphic>
          <a:graphicData uri="http://schemas.openxmlformats.org/drawingml/2006/table">
            <a:tbl>
              <a:tblPr/>
              <a:tblGrid>
                <a:gridCol w="1720723">
                  <a:extLst>
                    <a:ext uri="{9D8B030D-6E8A-4147-A177-3AD203B41FA5}">
                      <a16:colId xmlns:a16="http://schemas.microsoft.com/office/drawing/2014/main" val="1593635911"/>
                    </a:ext>
                  </a:extLst>
                </a:gridCol>
                <a:gridCol w="1156018">
                  <a:extLst>
                    <a:ext uri="{9D8B030D-6E8A-4147-A177-3AD203B41FA5}">
                      <a16:colId xmlns:a16="http://schemas.microsoft.com/office/drawing/2014/main" val="1956881026"/>
                    </a:ext>
                  </a:extLst>
                </a:gridCol>
                <a:gridCol w="1496568">
                  <a:extLst>
                    <a:ext uri="{9D8B030D-6E8A-4147-A177-3AD203B41FA5}">
                      <a16:colId xmlns:a16="http://schemas.microsoft.com/office/drawing/2014/main" val="2987313937"/>
                    </a:ext>
                  </a:extLst>
                </a:gridCol>
                <a:gridCol w="1933139">
                  <a:extLst>
                    <a:ext uri="{9D8B030D-6E8A-4147-A177-3AD203B41FA5}">
                      <a16:colId xmlns:a16="http://schemas.microsoft.com/office/drawing/2014/main" val="1162287648"/>
                    </a:ext>
                  </a:extLst>
                </a:gridCol>
              </a:tblGrid>
              <a:tr h="455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effectLst/>
                        </a:rPr>
                        <a:t>Metrica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 err="1"/>
                        <a:t>Cohen's</a:t>
                      </a:r>
                      <a:r>
                        <a:rPr lang="it-IT" b="1" dirty="0"/>
                        <a:t> 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t-test p-</a:t>
                      </a:r>
                      <a:r>
                        <a:rPr lang="it-IT" b="1" dirty="0" err="1"/>
                        <a:t>value</a:t>
                      </a:r>
                      <a:endParaRPr lang="el-GR" b="1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95% CI (</a:t>
                      </a:r>
                      <a:r>
                        <a:rPr lang="el-GR" b="1" dirty="0"/>
                        <a:t>Δ)</a:t>
                      </a:r>
                      <a:endParaRPr lang="el-GR" b="1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051681"/>
                  </a:ext>
                </a:extLst>
              </a:tr>
              <a:tr h="561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>
                          <a:effectLst/>
                        </a:rPr>
                        <a:t>METEOR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5.48</a:t>
                      </a:r>
                      <a:endParaRPr lang="it-IT" i="1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0.0016</a:t>
                      </a:r>
                      <a:endParaRPr lang="it-IT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[0.025, 0.038]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537172"/>
                  </a:ext>
                </a:extLst>
              </a:tr>
              <a:tr h="455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>
                          <a:effectLst/>
                        </a:rPr>
                        <a:t>ROUGE-L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20.63</a:t>
                      </a:r>
                      <a:endParaRPr lang="it-IT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0.00002</a:t>
                      </a:r>
                      <a:endParaRPr lang="it-IT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[0.080, 0.092]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464406"/>
                  </a:ext>
                </a:extLst>
              </a:tr>
              <a:tr h="455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 err="1">
                          <a:effectLst/>
                        </a:rPr>
                        <a:t>CIDEr</a:t>
                      </a:r>
                      <a:endParaRPr lang="it-IT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57.15</a:t>
                      </a:r>
                      <a:endParaRPr lang="it-IT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0.00001</a:t>
                      </a:r>
                      <a:endParaRPr lang="it-IT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[0.74, 0.76]</a:t>
                      </a:r>
                      <a:endParaRPr lang="it-IT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533389"/>
                  </a:ext>
                </a:extLst>
              </a:tr>
              <a:tr h="455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 err="1"/>
                        <a:t>SacreBLEU</a:t>
                      </a:r>
                      <a:endParaRPr lang="it-IT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>
                          <a:effectLst/>
                        </a:rPr>
                        <a:t>-</a:t>
                      </a:r>
                      <a:r>
                        <a:rPr lang="it-IT" dirty="0"/>
                        <a:t>8.53</a:t>
                      </a:r>
                      <a:endParaRPr lang="it-IT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0.0003</a:t>
                      </a:r>
                      <a:endParaRPr lang="it-IT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[-2.67, -1.69]</a:t>
                      </a:r>
                      <a:endParaRPr lang="it-IT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337839"/>
                  </a:ext>
                </a:extLst>
              </a:tr>
              <a:tr h="600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effectLst/>
                        </a:rPr>
                        <a:t>Identifier Recall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>
                        <a:buNone/>
                      </a:pPr>
                      <a:r>
                        <a:rPr lang="it-IT" dirty="0"/>
                        <a:t>-2.45</a:t>
                      </a:r>
                      <a:endParaRPr lang="it-IT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0.0445</a:t>
                      </a:r>
                      <a:endParaRPr lang="it-IT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[-0.036, -0.0005]</a:t>
                      </a:r>
                      <a:endParaRPr lang="it-IT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065577"/>
                  </a:ext>
                </a:extLst>
              </a:tr>
            </a:tbl>
          </a:graphicData>
        </a:graphic>
      </p:graphicFrame>
      <p:pic>
        <p:nvPicPr>
          <p:cNvPr id="37" name="Immagine 36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4B1C7A50-37AD-BA51-DD4C-4CCE4D0215A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9" name="Freeform 9" descr="image2.png"/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14" name="Freeform 14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16" name="Freeform 16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23" name="Freeform 23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743" y="59804"/>
            <a:ext cx="8718449" cy="902045"/>
            <a:chOff x="0" y="0"/>
            <a:chExt cx="11624598" cy="1202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24598" cy="1202726"/>
            </a:xfrm>
            <a:custGeom>
              <a:avLst/>
              <a:gdLst/>
              <a:ahLst/>
              <a:cxnLst/>
              <a:rect l="l" t="t" r="r" b="b"/>
              <a:pathLst>
                <a:path w="11624598" h="1202726">
                  <a:moveTo>
                    <a:pt x="0" y="0"/>
                  </a:moveTo>
                  <a:lnTo>
                    <a:pt x="11624598" y="0"/>
                  </a:lnTo>
                  <a:lnTo>
                    <a:pt x="11624598" y="1202726"/>
                  </a:lnTo>
                  <a:lnTo>
                    <a:pt x="0" y="120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1624598" cy="11265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3375" b="1" spc="-6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Analisi dei Risultati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057996" y="1272536"/>
            <a:ext cx="5038004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4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RQ3 - </a:t>
            </a: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Analisi</a:t>
            </a: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della </a:t>
            </a: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Stabilità</a:t>
            </a:r>
            <a:endParaRPr lang="en-US" sz="2600" b="1" dirty="0">
              <a:solidFill>
                <a:srgbClr val="000000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graphicFrame>
        <p:nvGraphicFramePr>
          <p:cNvPr id="31" name="Tabella 30">
            <a:extLst>
              <a:ext uri="{FF2B5EF4-FFF2-40B4-BE49-F238E27FC236}">
                <a16:creationId xmlns:a16="http://schemas.microsoft.com/office/drawing/2014/main" id="{7096FFC5-DF6A-42ED-712A-664FC9972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713426"/>
              </p:ext>
            </p:extLst>
          </p:nvPr>
        </p:nvGraphicFramePr>
        <p:xfrm>
          <a:off x="567704" y="2192951"/>
          <a:ext cx="8610600" cy="3461600"/>
        </p:xfrm>
        <a:graphic>
          <a:graphicData uri="http://schemas.openxmlformats.org/drawingml/2006/table">
            <a:tbl>
              <a:tblPr/>
              <a:tblGrid>
                <a:gridCol w="2152650">
                  <a:extLst>
                    <a:ext uri="{9D8B030D-6E8A-4147-A177-3AD203B41FA5}">
                      <a16:colId xmlns:a16="http://schemas.microsoft.com/office/drawing/2014/main" val="1593635911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1956881026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987313937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1162287648"/>
                    </a:ext>
                  </a:extLst>
                </a:gridCol>
              </a:tblGrid>
              <a:tr h="528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effectLst/>
                        </a:rPr>
                        <a:t>Metrica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effectLst/>
                        </a:rPr>
                        <a:t>CoDiSum </a:t>
                      </a:r>
                      <a:r>
                        <a:rPr lang="el-GR" b="1">
                          <a:effectLst/>
                        </a:rPr>
                        <a:t>σ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>
                          <a:effectLst/>
                        </a:rPr>
                        <a:t>RACE </a:t>
                      </a:r>
                      <a:r>
                        <a:rPr lang="el-GR" b="1" dirty="0">
                          <a:effectLst/>
                        </a:rPr>
                        <a:t>σ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effectLst/>
                        </a:rPr>
                        <a:t>KADEL </a:t>
                      </a:r>
                      <a:r>
                        <a:rPr lang="el-GR" b="1">
                          <a:effectLst/>
                        </a:rPr>
                        <a:t>σ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051681"/>
                  </a:ext>
                </a:extLst>
              </a:tr>
              <a:tr h="651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effectLst/>
                        </a:rPr>
                        <a:t>BLEU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i="1" dirty="0">
                          <a:effectLst/>
                        </a:rPr>
                        <a:t>≈0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>
                          <a:effectLst/>
                        </a:rPr>
                        <a:t>0.003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>
                          <a:effectLst/>
                        </a:rPr>
                        <a:t>0.002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537172"/>
                  </a:ext>
                </a:extLst>
              </a:tr>
              <a:tr h="528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effectLst/>
                        </a:rPr>
                        <a:t>METEOR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>
                          <a:effectLst/>
                        </a:rPr>
                        <a:t>0.003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>
                          <a:effectLst/>
                        </a:rPr>
                        <a:t>0.003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>
                          <a:effectLst/>
                        </a:rPr>
                        <a:t>0.006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464406"/>
                  </a:ext>
                </a:extLst>
              </a:tr>
              <a:tr h="528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>
                          <a:effectLst/>
                        </a:rPr>
                        <a:t>ROUGE-L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>
                          <a:effectLst/>
                        </a:rPr>
                        <a:t>0.004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>
                          <a:effectLst/>
                        </a:rPr>
                        <a:t>0.002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>
                          <a:effectLst/>
                        </a:rPr>
                        <a:t>0.005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533389"/>
                  </a:ext>
                </a:extLst>
              </a:tr>
              <a:tr h="528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effectLst/>
                        </a:rPr>
                        <a:t>CIDEr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>
                          <a:effectLst/>
                        </a:rPr>
                        <a:t>0.005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>
                          <a:effectLst/>
                        </a:rPr>
                        <a:t>0.009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>
                          <a:effectLst/>
                        </a:rPr>
                        <a:t>0.029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337839"/>
                  </a:ext>
                </a:extLst>
              </a:tr>
              <a:tr h="695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effectLst/>
                        </a:rPr>
                        <a:t>Identifier Recall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>
                        <a:buNone/>
                      </a:pPr>
                      <a:r>
                        <a:rPr lang="it-IT" b="0" i="1">
                          <a:solidFill>
                            <a:srgbClr val="000000"/>
                          </a:solidFill>
                          <a:effectLst/>
                        </a:rPr>
                        <a:t>non applicabile</a:t>
                      </a:r>
                      <a:r>
                        <a:rPr lang="it-IT" b="0" i="0">
                          <a:solidFill>
                            <a:srgbClr val="000000"/>
                          </a:solidFill>
                          <a:effectLst/>
                        </a:rPr>
                        <a:t> (sempre 0)</a:t>
                      </a:r>
                      <a:endParaRPr lang="it-IT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>
                          <a:effectLst/>
                        </a:rPr>
                        <a:t>0.005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>
                          <a:effectLst/>
                        </a:rPr>
                        <a:t>0.007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5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065577"/>
                  </a:ext>
                </a:extLst>
              </a:tr>
            </a:tbl>
          </a:graphicData>
        </a:graphic>
      </p:graphicFrame>
      <p:sp>
        <p:nvSpPr>
          <p:cNvPr id="32" name="Rectangle 1">
            <a:extLst>
              <a:ext uri="{FF2B5EF4-FFF2-40B4-BE49-F238E27FC236}">
                <a16:creationId xmlns:a16="http://schemas.microsoft.com/office/drawing/2014/main" id="{95BA23DD-2515-0532-B25A-87256D49E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71713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pic>
        <p:nvPicPr>
          <p:cNvPr id="33" name="Immagine 32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1E956EDB-F0B5-99D4-64F9-A68C7EE52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9" name="Freeform 9" descr="image2.png"/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14" name="Freeform 14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16" name="Freeform 16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23" name="Freeform 23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743" y="59804"/>
            <a:ext cx="8718449" cy="902045"/>
            <a:chOff x="0" y="0"/>
            <a:chExt cx="11624598" cy="1202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24598" cy="1202726"/>
            </a:xfrm>
            <a:custGeom>
              <a:avLst/>
              <a:gdLst/>
              <a:ahLst/>
              <a:cxnLst/>
              <a:rect l="l" t="t" r="r" b="b"/>
              <a:pathLst>
                <a:path w="11624598" h="1202726">
                  <a:moveTo>
                    <a:pt x="0" y="0"/>
                  </a:moveTo>
                  <a:lnTo>
                    <a:pt x="11624598" y="0"/>
                  </a:lnTo>
                  <a:lnTo>
                    <a:pt x="11624598" y="1202726"/>
                  </a:lnTo>
                  <a:lnTo>
                    <a:pt x="0" y="120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1624598" cy="11265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3375" b="1" spc="-6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Analisi dei Risultati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57996" y="1272536"/>
            <a:ext cx="5114204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4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RQ3 - </a:t>
            </a: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Analisi</a:t>
            </a: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della </a:t>
            </a: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Stabilità</a:t>
            </a:r>
            <a:endParaRPr lang="en-US" sz="2600" b="1" dirty="0">
              <a:solidFill>
                <a:srgbClr val="000000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905896" y="4935263"/>
            <a:ext cx="8289296" cy="1278658"/>
            <a:chOff x="0" y="0"/>
            <a:chExt cx="3070110" cy="47357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070110" cy="473577"/>
            </a:xfrm>
            <a:custGeom>
              <a:avLst/>
              <a:gdLst/>
              <a:ahLst/>
              <a:cxnLst/>
              <a:rect l="l" t="t" r="r" b="b"/>
              <a:pathLst>
                <a:path w="3070110" h="473577">
                  <a:moveTo>
                    <a:pt x="0" y="0"/>
                  </a:moveTo>
                  <a:lnTo>
                    <a:pt x="3070110" y="0"/>
                  </a:lnTo>
                  <a:lnTo>
                    <a:pt x="3070110" y="473577"/>
                  </a:lnTo>
                  <a:lnTo>
                    <a:pt x="0" y="4735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D0213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3070110" cy="511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44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41540" y="5078138"/>
            <a:ext cx="7806163" cy="974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KADEL</a:t>
            </a:r>
          </a:p>
          <a:p>
            <a:pPr marL="388620" lvl="1" indent="-194310" algn="l">
              <a:lnSpc>
                <a:spcPts val="2592"/>
              </a:lnSpc>
              <a:buFont typeface="Arial"/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Variabilità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contenuta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comparabile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 RACE.</a:t>
            </a:r>
          </a:p>
          <a:p>
            <a:pPr marL="388620" lvl="1" indent="-194310" algn="l">
              <a:lnSpc>
                <a:spcPts val="2592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Il co-training introduce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stocasticità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ma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l’impatto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del seed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resta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limitato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05896" y="1938132"/>
            <a:ext cx="8289296" cy="1278658"/>
            <a:chOff x="0" y="0"/>
            <a:chExt cx="3070110" cy="47357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070110" cy="473577"/>
            </a:xfrm>
            <a:custGeom>
              <a:avLst/>
              <a:gdLst/>
              <a:ahLst/>
              <a:cxnLst/>
              <a:rect l="l" t="t" r="r" b="b"/>
              <a:pathLst>
                <a:path w="3070110" h="473577">
                  <a:moveTo>
                    <a:pt x="0" y="0"/>
                  </a:moveTo>
                  <a:lnTo>
                    <a:pt x="3070110" y="0"/>
                  </a:lnTo>
                  <a:lnTo>
                    <a:pt x="3070110" y="473577"/>
                  </a:lnTo>
                  <a:lnTo>
                    <a:pt x="0" y="4735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D0213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070110" cy="511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44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05896" y="3376834"/>
            <a:ext cx="8289296" cy="1396503"/>
            <a:chOff x="0" y="0"/>
            <a:chExt cx="3070110" cy="51722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070110" cy="517223"/>
            </a:xfrm>
            <a:custGeom>
              <a:avLst/>
              <a:gdLst/>
              <a:ahLst/>
              <a:cxnLst/>
              <a:rect l="l" t="t" r="r" b="b"/>
              <a:pathLst>
                <a:path w="3070110" h="517223">
                  <a:moveTo>
                    <a:pt x="0" y="0"/>
                  </a:moveTo>
                  <a:lnTo>
                    <a:pt x="3070110" y="0"/>
                  </a:lnTo>
                  <a:lnTo>
                    <a:pt x="3070110" y="517223"/>
                  </a:lnTo>
                  <a:lnTo>
                    <a:pt x="0" y="5172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D0213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3070110" cy="5553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44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041541" y="2081018"/>
            <a:ext cx="7950059" cy="974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CoDiSum</a:t>
            </a:r>
            <a:endParaRPr lang="en-US" sz="1800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388620" lvl="1" indent="-194310" algn="l">
              <a:lnSpc>
                <a:spcPts val="2592"/>
              </a:lnSpc>
              <a:buFont typeface="Arial"/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Stabilità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apparente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le run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sono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simili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ma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perché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il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modello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fallisce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marL="388620" lvl="1" indent="-194310" algn="l">
              <a:lnSpc>
                <a:spcPts val="2592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bassa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variabilità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è un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effetto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del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collasso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non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una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proprietà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positiva</a:t>
            </a:r>
            <a:endParaRPr lang="en-US" sz="1800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041541" y="3416718"/>
            <a:ext cx="7446454" cy="1308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RACE</a:t>
            </a:r>
          </a:p>
          <a:p>
            <a:pPr marL="388620" lvl="1" indent="-194310" algn="l">
              <a:lnSpc>
                <a:spcPts val="2592"/>
              </a:lnSpc>
              <a:buFont typeface="Arial"/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Deviazioni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standard molto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basse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→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comportamento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stabile.</a:t>
            </a:r>
          </a:p>
          <a:p>
            <a:pPr marL="388620" lvl="1" indent="-194310" algn="l">
              <a:lnSpc>
                <a:spcPts val="2592"/>
              </a:lnSpc>
              <a:buFont typeface="Arial"/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Convergenza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consistente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seed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diversi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marL="388620" lvl="1" indent="-194310" algn="l">
              <a:lnSpc>
                <a:spcPts val="2592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metriche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sono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affidabili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anche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con solo 3 run.</a:t>
            </a:r>
          </a:p>
        </p:txBody>
      </p:sp>
      <p:pic>
        <p:nvPicPr>
          <p:cNvPr id="40" name="Immagine 39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D37D19AC-38CB-B152-A632-A5FE8E70B31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9" name="Freeform 9" descr="image2.png"/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14" name="Freeform 14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16" name="Freeform 16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23" name="Freeform 23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743" y="59804"/>
            <a:ext cx="8718449" cy="902045"/>
            <a:chOff x="0" y="0"/>
            <a:chExt cx="11624598" cy="1202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24598" cy="1202726"/>
            </a:xfrm>
            <a:custGeom>
              <a:avLst/>
              <a:gdLst/>
              <a:ahLst/>
              <a:cxnLst/>
              <a:rect l="l" t="t" r="r" b="b"/>
              <a:pathLst>
                <a:path w="11624598" h="1202726">
                  <a:moveTo>
                    <a:pt x="0" y="0"/>
                  </a:moveTo>
                  <a:lnTo>
                    <a:pt x="11624598" y="0"/>
                  </a:lnTo>
                  <a:lnTo>
                    <a:pt x="11624598" y="1202726"/>
                  </a:lnTo>
                  <a:lnTo>
                    <a:pt x="0" y="120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1624598" cy="11265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3375" b="1" spc="-67" dirty="0" err="1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Conclusioni</a:t>
              </a:r>
              <a:endParaRPr lang="en-US" sz="3375" b="1" spc="-67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endParaRPr>
            </a:p>
          </p:txBody>
        </p:sp>
      </p:grpSp>
      <p:sp>
        <p:nvSpPr>
          <p:cNvPr id="27" name="Freeform 27"/>
          <p:cNvSpPr/>
          <p:nvPr/>
        </p:nvSpPr>
        <p:spPr>
          <a:xfrm>
            <a:off x="6580988" y="2057400"/>
            <a:ext cx="1031852" cy="1031852"/>
          </a:xfrm>
          <a:custGeom>
            <a:avLst/>
            <a:gdLst/>
            <a:ahLst/>
            <a:cxnLst/>
            <a:rect l="l" t="t" r="r" b="b"/>
            <a:pathLst>
              <a:path w="1031852" h="1031852">
                <a:moveTo>
                  <a:pt x="0" y="0"/>
                </a:moveTo>
                <a:lnTo>
                  <a:pt x="1031852" y="0"/>
                </a:lnTo>
                <a:lnTo>
                  <a:pt x="1031852" y="1031851"/>
                </a:lnTo>
                <a:lnTo>
                  <a:pt x="0" y="10318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8" name="TextBox 28"/>
          <p:cNvSpPr txBox="1"/>
          <p:nvPr/>
        </p:nvSpPr>
        <p:spPr>
          <a:xfrm>
            <a:off x="2186437" y="3107958"/>
            <a:ext cx="927698" cy="334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Interna</a:t>
            </a:r>
            <a:endParaRPr lang="en-US" sz="2000" b="1" dirty="0">
              <a:solidFill>
                <a:srgbClr val="000000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71176" y="3625706"/>
            <a:ext cx="4204431" cy="2308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22" lvl="1" indent="-194311">
              <a:lnSpc>
                <a:spcPts val="2592"/>
              </a:lnSpc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Solo 3 run per </a:t>
            </a:r>
            <a:r>
              <a:rPr lang="en-US" sz="1800" dirty="0" err="1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modello</a:t>
            </a:r>
            <a:r>
              <a:rPr lang="en-US" sz="1800" dirty="0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 → </a:t>
            </a:r>
            <a:r>
              <a:rPr lang="it-IT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limita il potere statistico delle analisi</a:t>
            </a:r>
            <a:r>
              <a:rPr lang="en-US" sz="1800" dirty="0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.</a:t>
            </a:r>
          </a:p>
          <a:p>
            <a:pPr marL="388622" lvl="1" indent="-194311" algn="l">
              <a:lnSpc>
                <a:spcPts val="2592"/>
              </a:lnSpc>
              <a:spcBef>
                <a:spcPct val="0"/>
              </a:spcBef>
              <a:buFont typeface="Arial"/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CoDiSum</a:t>
            </a:r>
            <a:r>
              <a:rPr lang="en-US" sz="1800" dirty="0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incompleto</a:t>
            </a:r>
            <a:r>
              <a:rPr lang="en-US" sz="1800" dirty="0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 → </a:t>
            </a:r>
            <a:r>
              <a:rPr lang="en-US" sz="1800" dirty="0" err="1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comportamento</a:t>
            </a:r>
            <a:r>
              <a:rPr lang="en-US" sz="1800" dirty="0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degenerato</a:t>
            </a:r>
            <a:r>
              <a:rPr lang="en-US" sz="1800" dirty="0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.</a:t>
            </a:r>
          </a:p>
          <a:p>
            <a:pPr marL="388622" lvl="1" indent="-194311" algn="l">
              <a:lnSpc>
                <a:spcPts val="2592"/>
              </a:lnSpc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Il gap </a:t>
            </a:r>
            <a:r>
              <a:rPr lang="en-US" sz="1800" dirty="0" err="1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tra</a:t>
            </a:r>
            <a:r>
              <a:rPr lang="en-US" sz="1800" dirty="0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modelli</a:t>
            </a:r>
            <a:r>
              <a:rPr lang="en-US" sz="1800" dirty="0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storici</a:t>
            </a:r>
            <a:r>
              <a:rPr lang="en-US" sz="1800" dirty="0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 e </a:t>
            </a:r>
            <a:r>
              <a:rPr lang="en-US" sz="1800" dirty="0" err="1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moderni</a:t>
            </a:r>
            <a:r>
              <a:rPr lang="en-US" sz="1800" dirty="0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potrebbe</a:t>
            </a:r>
            <a:r>
              <a:rPr lang="en-US" sz="1800" dirty="0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essere</a:t>
            </a:r>
            <a:r>
              <a:rPr lang="en-US" sz="1800" dirty="0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influenzato</a:t>
            </a:r>
            <a:r>
              <a:rPr lang="en-US" sz="1800" dirty="0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dall’artefatto</a:t>
            </a:r>
            <a:r>
              <a:rPr lang="en-US" sz="1800" dirty="0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 non </a:t>
            </a:r>
            <a:r>
              <a:rPr lang="en-US" sz="1800" dirty="0" err="1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fedele</a:t>
            </a:r>
            <a:r>
              <a:rPr lang="en-US" sz="1800" dirty="0">
                <a:solidFill>
                  <a:srgbClr val="00000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35311" y="3107958"/>
            <a:ext cx="1031852" cy="334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0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Esterna</a:t>
            </a:r>
            <a:endParaRPr lang="en-US" sz="2000" b="1" dirty="0">
              <a:solidFill>
                <a:srgbClr val="000000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875607" y="3625706"/>
            <a:ext cx="4146473" cy="16417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22" lvl="1" indent="-194311" algn="l">
              <a:lnSpc>
                <a:spcPts val="2592"/>
              </a:lnSpc>
              <a:spcBef>
                <a:spcPct val="0"/>
              </a:spcBef>
              <a:buFont typeface="Arial"/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Esperimenti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condotti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solo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sul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subset Java →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risultati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non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generalizzabili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ad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altri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linguaggi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marL="388622" lvl="1" indent="-194311" algn="l">
              <a:lnSpc>
                <a:spcPts val="2592"/>
              </a:lnSpc>
              <a:spcBef>
                <a:spcPct val="0"/>
              </a:spcBef>
              <a:buFont typeface="Arial"/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Ambiente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controllato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→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possibili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differenze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in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contesti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industriali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reali</a:t>
            </a:r>
            <a:r>
              <a:rPr lang="en-US" sz="18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  <p:sp>
        <p:nvSpPr>
          <p:cNvPr id="32" name="AutoShape 32"/>
          <p:cNvSpPr/>
          <p:nvPr/>
        </p:nvSpPr>
        <p:spPr>
          <a:xfrm>
            <a:off x="4877991" y="2741118"/>
            <a:ext cx="0" cy="345370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33" name="Freeform 33"/>
          <p:cNvSpPr/>
          <p:nvPr/>
        </p:nvSpPr>
        <p:spPr>
          <a:xfrm>
            <a:off x="2252599" y="2057400"/>
            <a:ext cx="1031852" cy="1031852"/>
          </a:xfrm>
          <a:custGeom>
            <a:avLst/>
            <a:gdLst/>
            <a:ahLst/>
            <a:cxnLst/>
            <a:rect l="l" t="t" r="r" b="b"/>
            <a:pathLst>
              <a:path w="1031852" h="1031852">
                <a:moveTo>
                  <a:pt x="0" y="0"/>
                </a:moveTo>
                <a:lnTo>
                  <a:pt x="1031852" y="0"/>
                </a:lnTo>
                <a:lnTo>
                  <a:pt x="1031852" y="1031851"/>
                </a:lnTo>
                <a:lnTo>
                  <a:pt x="0" y="103185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6" name="TextBox 27">
            <a:extLst>
              <a:ext uri="{FF2B5EF4-FFF2-40B4-BE49-F238E27FC236}">
                <a16:creationId xmlns:a16="http://schemas.microsoft.com/office/drawing/2014/main" id="{49892614-8BB8-9851-B553-D9F5A8289559}"/>
              </a:ext>
            </a:extLst>
          </p:cNvPr>
          <p:cNvSpPr txBox="1"/>
          <p:nvPr/>
        </p:nvSpPr>
        <p:spPr>
          <a:xfrm>
            <a:off x="1057996" y="1272536"/>
            <a:ext cx="5114204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4"/>
              </a:lnSpc>
              <a:spcBef>
                <a:spcPct val="0"/>
              </a:spcBef>
            </a:pP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Minacce</a:t>
            </a:r>
            <a:r>
              <a:rPr lang="en-US" sz="26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alla </a:t>
            </a:r>
            <a:r>
              <a:rPr lang="en-US" sz="26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Validità</a:t>
            </a:r>
            <a:endParaRPr lang="en-US" sz="2600" b="1" dirty="0">
              <a:solidFill>
                <a:srgbClr val="000000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pic>
        <p:nvPicPr>
          <p:cNvPr id="37" name="Immagine 36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4FA99053-6AB4-C945-FE14-75862A77152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61" y="6303529"/>
            <a:ext cx="9775904" cy="1028346"/>
            <a:chOff x="0" y="0"/>
            <a:chExt cx="13034539" cy="1371128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61" y="-3346"/>
            <a:ext cx="9775904" cy="1028344"/>
            <a:chOff x="0" y="0"/>
            <a:chExt cx="13034539" cy="1371125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3021818" cy="1358392"/>
            </a:xfrm>
            <a:custGeom>
              <a:avLst/>
              <a:gdLst/>
              <a:ahLst/>
              <a:cxnLst/>
              <a:rect l="l" t="t" r="r" b="b"/>
              <a:pathLst>
                <a:path w="13021818" h="1358392">
                  <a:moveTo>
                    <a:pt x="0" y="0"/>
                  </a:moveTo>
                  <a:lnTo>
                    <a:pt x="13021818" y="0"/>
                  </a:lnTo>
                  <a:lnTo>
                    <a:pt x="13021818" y="1358392"/>
                  </a:lnTo>
                  <a:lnTo>
                    <a:pt x="0" y="1358392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3034518" cy="1371092"/>
            </a:xfrm>
            <a:custGeom>
              <a:avLst/>
              <a:gdLst/>
              <a:ahLst/>
              <a:cxnLst/>
              <a:rect l="l" t="t" r="r" b="b"/>
              <a:pathLst>
                <a:path w="13034518" h="1371092">
                  <a:moveTo>
                    <a:pt x="6350" y="0"/>
                  </a:moveTo>
                  <a:lnTo>
                    <a:pt x="13028168" y="0"/>
                  </a:lnTo>
                  <a:cubicBezTo>
                    <a:pt x="13031724" y="0"/>
                    <a:pt x="13034518" y="2794"/>
                    <a:pt x="13034518" y="6350"/>
                  </a:cubicBezTo>
                  <a:lnTo>
                    <a:pt x="13034518" y="1364742"/>
                  </a:lnTo>
                  <a:cubicBezTo>
                    <a:pt x="13034518" y="1368298"/>
                    <a:pt x="13031724" y="1371092"/>
                    <a:pt x="13028168" y="1371092"/>
                  </a:cubicBezTo>
                  <a:lnTo>
                    <a:pt x="6350" y="1371092"/>
                  </a:lnTo>
                  <a:cubicBezTo>
                    <a:pt x="2794" y="1371092"/>
                    <a:pt x="0" y="1368298"/>
                    <a:pt x="0" y="136474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364742"/>
                  </a:lnTo>
                  <a:lnTo>
                    <a:pt x="6350" y="1364742"/>
                  </a:lnTo>
                  <a:lnTo>
                    <a:pt x="6350" y="1358392"/>
                  </a:lnTo>
                  <a:lnTo>
                    <a:pt x="13028168" y="1358392"/>
                  </a:lnTo>
                  <a:lnTo>
                    <a:pt x="13028168" y="1364742"/>
                  </a:lnTo>
                  <a:lnTo>
                    <a:pt x="13021818" y="1364742"/>
                  </a:lnTo>
                  <a:lnTo>
                    <a:pt x="13021818" y="6350"/>
                  </a:lnTo>
                  <a:lnTo>
                    <a:pt x="13028168" y="6350"/>
                  </a:lnTo>
                  <a:lnTo>
                    <a:pt x="1302816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685248" y="107140"/>
            <a:ext cx="1666517" cy="807371"/>
            <a:chOff x="0" y="0"/>
            <a:chExt cx="2222022" cy="1076495"/>
          </a:xfrm>
        </p:grpSpPr>
        <p:sp>
          <p:nvSpPr>
            <p:cNvPr id="9" name="Freeform 9" descr="image2.png"/>
            <p:cNvSpPr/>
            <p:nvPr/>
          </p:nvSpPr>
          <p:spPr>
            <a:xfrm>
              <a:off x="0" y="0"/>
              <a:ext cx="2221992" cy="1076452"/>
            </a:xfrm>
            <a:custGeom>
              <a:avLst/>
              <a:gdLst/>
              <a:ahLst/>
              <a:cxnLst/>
              <a:rect l="l" t="t" r="r" b="b"/>
              <a:pathLst>
                <a:path w="2221992" h="1076452">
                  <a:moveTo>
                    <a:pt x="0" y="0"/>
                  </a:moveTo>
                  <a:lnTo>
                    <a:pt x="2221992" y="0"/>
                  </a:lnTo>
                  <a:lnTo>
                    <a:pt x="2221992" y="1076452"/>
                  </a:lnTo>
                  <a:lnTo>
                    <a:pt x="0" y="107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" r="-309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2784" y="6392809"/>
            <a:ext cx="2905258" cy="811673"/>
            <a:chOff x="0" y="0"/>
            <a:chExt cx="3873677" cy="10822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73677" cy="1082231"/>
            </a:xfrm>
            <a:custGeom>
              <a:avLst/>
              <a:gdLst/>
              <a:ahLst/>
              <a:cxnLst/>
              <a:rect l="l" t="t" r="r" b="b"/>
              <a:pathLst>
                <a:path w="3873677" h="1082231">
                  <a:moveTo>
                    <a:pt x="0" y="0"/>
                  </a:moveTo>
                  <a:lnTo>
                    <a:pt x="3873677" y="0"/>
                  </a:lnTo>
                  <a:lnTo>
                    <a:pt x="3873677" y="1082231"/>
                  </a:lnTo>
                  <a:lnTo>
                    <a:pt x="0" y="1082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73677" cy="1120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mailto:email@studenti.unisa.it"/>
                </a:rPr>
                <a:t>v.annunziata17@studenti.unisa.it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github.com/valered"/>
                </a:rPr>
                <a:t>https://github.com/valered</a:t>
              </a:r>
            </a:p>
            <a:p>
              <a:pPr algn="l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://www.linkedin.com/in/v-annunziata"/>
                </a:rPr>
                <a:t>www.linkedin.com/in/v-annunziata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76743" y="6710988"/>
            <a:ext cx="200075" cy="200075"/>
            <a:chOff x="0" y="0"/>
            <a:chExt cx="266766" cy="266766"/>
          </a:xfrm>
        </p:grpSpPr>
        <p:sp>
          <p:nvSpPr>
            <p:cNvPr id="14" name="Freeform 14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76743" y="6457298"/>
            <a:ext cx="200075" cy="200075"/>
            <a:chOff x="0" y="0"/>
            <a:chExt cx="266766" cy="266766"/>
          </a:xfrm>
        </p:grpSpPr>
        <p:sp>
          <p:nvSpPr>
            <p:cNvPr id="16" name="Freeform 16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76743" y="6955152"/>
            <a:ext cx="219129" cy="219129"/>
            <a:chOff x="0" y="0"/>
            <a:chExt cx="292172" cy="292172"/>
          </a:xfrm>
        </p:grpSpPr>
        <p:sp>
          <p:nvSpPr>
            <p:cNvPr id="23" name="Freeform 23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743" y="59804"/>
            <a:ext cx="8718449" cy="902045"/>
            <a:chOff x="0" y="0"/>
            <a:chExt cx="11624598" cy="1202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24598" cy="1202726"/>
            </a:xfrm>
            <a:custGeom>
              <a:avLst/>
              <a:gdLst/>
              <a:ahLst/>
              <a:cxnLst/>
              <a:rect l="l" t="t" r="r" b="b"/>
              <a:pathLst>
                <a:path w="11624598" h="1202726">
                  <a:moveTo>
                    <a:pt x="0" y="0"/>
                  </a:moveTo>
                  <a:lnTo>
                    <a:pt x="11624598" y="0"/>
                  </a:lnTo>
                  <a:lnTo>
                    <a:pt x="11624598" y="1202726"/>
                  </a:lnTo>
                  <a:lnTo>
                    <a:pt x="0" y="120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1624598" cy="11265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3375" b="1" spc="-67" dirty="0" err="1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Lavori</a:t>
              </a:r>
              <a:r>
                <a:rPr lang="en-US" sz="3375" b="1" spc="-67" dirty="0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</a:t>
              </a:r>
              <a:r>
                <a:rPr lang="en-US" sz="3375" b="1" spc="-67" dirty="0" err="1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Futuri</a:t>
              </a:r>
              <a:endParaRPr lang="en-US" sz="3375" b="1" spc="-67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759364" y="1934479"/>
            <a:ext cx="5479636" cy="32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05104" lvl="1">
              <a:lnSpc>
                <a:spcPts val="2735"/>
              </a:lnSpc>
            </a:pPr>
            <a:r>
              <a:rPr lang="en-US" sz="20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Valutazione</a:t>
            </a:r>
            <a:r>
              <a:rPr lang="en-US" sz="20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umana</a:t>
            </a:r>
            <a:r>
              <a:rPr lang="en-US" sz="20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per </a:t>
            </a:r>
            <a:r>
              <a:rPr lang="en-US" sz="20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testare</a:t>
            </a:r>
            <a:r>
              <a:rPr lang="en-US" sz="20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l’utilità</a:t>
            </a:r>
            <a:r>
              <a:rPr lang="en-US" sz="20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percepita</a:t>
            </a:r>
            <a:endParaRPr lang="en-US" sz="2000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pic>
        <p:nvPicPr>
          <p:cNvPr id="36" name="Immagine 35" descr="Immagine che contiene disegno, schizzo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588F4114-9DF3-5E4F-5AA6-03FE0C2D74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9549" y="1566238"/>
            <a:ext cx="1000651" cy="989061"/>
          </a:xfrm>
          <a:prstGeom prst="rect">
            <a:avLst/>
          </a:prstGeom>
        </p:spPr>
      </p:pic>
      <p:pic>
        <p:nvPicPr>
          <p:cNvPr id="38" name="Immagine 37" descr="Immagine che contiene simbolo, clipart&#10;&#10;Il contenuto generato dall'IA potrebbe non essere corretto.">
            <a:extLst>
              <a:ext uri="{FF2B5EF4-FFF2-40B4-BE49-F238E27FC236}">
                <a16:creationId xmlns:a16="http://schemas.microsoft.com/office/drawing/2014/main" id="{00992788-4F96-737A-4744-511F8016A96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743" y="2714859"/>
            <a:ext cx="854069" cy="968489"/>
          </a:xfrm>
          <a:prstGeom prst="rect">
            <a:avLst/>
          </a:prstGeom>
        </p:spPr>
      </p:pic>
      <p:pic>
        <p:nvPicPr>
          <p:cNvPr id="40" name="Immagine 39">
            <a:extLst>
              <a:ext uri="{FF2B5EF4-FFF2-40B4-BE49-F238E27FC236}">
                <a16:creationId xmlns:a16="http://schemas.microsoft.com/office/drawing/2014/main" id="{54892D6F-43C1-5131-2B98-2BE18F9106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2548" y="3896521"/>
            <a:ext cx="742457" cy="1012064"/>
          </a:xfrm>
          <a:prstGeom prst="rect">
            <a:avLst/>
          </a:prstGeom>
        </p:spPr>
      </p:pic>
      <p:pic>
        <p:nvPicPr>
          <p:cNvPr id="42" name="Immagine 41" descr="Immagine che contiene design&#10;&#10;Il contenuto generato dall'IA potrebbe non essere corretto.">
            <a:extLst>
              <a:ext uri="{FF2B5EF4-FFF2-40B4-BE49-F238E27FC236}">
                <a16:creationId xmlns:a16="http://schemas.microsoft.com/office/drawing/2014/main" id="{95F1CD23-3E34-FC5D-571B-F7AEA22BD43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4994" y="5065133"/>
            <a:ext cx="845818" cy="868590"/>
          </a:xfrm>
          <a:prstGeom prst="rect">
            <a:avLst/>
          </a:prstGeom>
        </p:spPr>
      </p:pic>
      <p:sp>
        <p:nvSpPr>
          <p:cNvPr id="43" name="TextBox 28">
            <a:extLst>
              <a:ext uri="{FF2B5EF4-FFF2-40B4-BE49-F238E27FC236}">
                <a16:creationId xmlns:a16="http://schemas.microsoft.com/office/drawing/2014/main" id="{A733F026-535B-C798-82EF-480B989899B0}"/>
              </a:ext>
            </a:extLst>
          </p:cNvPr>
          <p:cNvSpPr txBox="1"/>
          <p:nvPr/>
        </p:nvSpPr>
        <p:spPr>
          <a:xfrm>
            <a:off x="1759364" y="3048000"/>
            <a:ext cx="6514147" cy="320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05104" lvl="1" algn="l">
              <a:lnSpc>
                <a:spcPts val="2735"/>
              </a:lnSpc>
            </a:pPr>
            <a:r>
              <a:rPr lang="en-US" sz="1899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Test con LLM </a:t>
            </a:r>
            <a:r>
              <a:rPr lang="en-US" sz="1899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moderni</a:t>
            </a:r>
            <a:r>
              <a:rPr lang="en-US" sz="1899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(CodeT5+, </a:t>
            </a:r>
            <a:r>
              <a:rPr lang="en-US" sz="1899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CodeLlama</a:t>
            </a:r>
            <a:r>
              <a:rPr lang="en-US" sz="1899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Codex...)</a:t>
            </a:r>
          </a:p>
        </p:txBody>
      </p:sp>
      <p:sp>
        <p:nvSpPr>
          <p:cNvPr id="44" name="TextBox 28">
            <a:extLst>
              <a:ext uri="{FF2B5EF4-FFF2-40B4-BE49-F238E27FC236}">
                <a16:creationId xmlns:a16="http://schemas.microsoft.com/office/drawing/2014/main" id="{AA92962D-E820-6BE2-3A29-5F88DB29167F}"/>
              </a:ext>
            </a:extLst>
          </p:cNvPr>
          <p:cNvSpPr txBox="1"/>
          <p:nvPr/>
        </p:nvSpPr>
        <p:spPr>
          <a:xfrm>
            <a:off x="1753678" y="4114800"/>
            <a:ext cx="6514147" cy="320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05104" lvl="1" algn="l">
              <a:lnSpc>
                <a:spcPts val="2735"/>
              </a:lnSpc>
            </a:pPr>
            <a:r>
              <a:rPr lang="en-US" sz="1899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Dataset </a:t>
            </a:r>
            <a:r>
              <a:rPr lang="en-US" sz="1899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migliori</a:t>
            </a:r>
            <a:r>
              <a:rPr lang="en-US" sz="1899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  <a:r>
              <a:rPr lang="en-US" sz="1899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filtraggio</a:t>
            </a:r>
            <a:r>
              <a:rPr lang="en-US" sz="1899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+ augmentation</a:t>
            </a:r>
          </a:p>
        </p:txBody>
      </p:sp>
      <p:sp>
        <p:nvSpPr>
          <p:cNvPr id="45" name="TextBox 28">
            <a:extLst>
              <a:ext uri="{FF2B5EF4-FFF2-40B4-BE49-F238E27FC236}">
                <a16:creationId xmlns:a16="http://schemas.microsoft.com/office/drawing/2014/main" id="{89E5794A-9A36-A9F8-E0EE-E46990F92C31}"/>
              </a:ext>
            </a:extLst>
          </p:cNvPr>
          <p:cNvSpPr txBox="1"/>
          <p:nvPr/>
        </p:nvSpPr>
        <p:spPr>
          <a:xfrm>
            <a:off x="1754815" y="5105400"/>
            <a:ext cx="6514147" cy="320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05104" lvl="1" algn="l">
              <a:lnSpc>
                <a:spcPts val="2735"/>
              </a:lnSpc>
            </a:pPr>
            <a:r>
              <a:rPr lang="en-US" sz="1899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Integrazione</a:t>
            </a:r>
            <a:r>
              <a:rPr lang="en-US" sz="1899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di </a:t>
            </a:r>
            <a:r>
              <a:rPr lang="en-US" sz="1899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modelli</a:t>
            </a:r>
            <a:r>
              <a:rPr lang="en-US" sz="1899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critici</a:t>
            </a:r>
            <a:r>
              <a:rPr lang="en-US" sz="1899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per </a:t>
            </a:r>
            <a:r>
              <a:rPr lang="en-US" sz="1899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controllo</a:t>
            </a:r>
            <a:r>
              <a:rPr lang="en-US" sz="1899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qualità</a:t>
            </a:r>
            <a:endParaRPr lang="en-US" sz="1899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pic>
        <p:nvPicPr>
          <p:cNvPr id="46" name="Immagine 45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709FC0FF-D382-D57C-1156-208954A3C7D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9" y="6335486"/>
            <a:ext cx="897744" cy="8977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78452" y="-9009"/>
            <a:ext cx="3586059" cy="7335004"/>
            <a:chOff x="0" y="0"/>
            <a:chExt cx="4781412" cy="9780006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4768723" cy="9767316"/>
            </a:xfrm>
            <a:custGeom>
              <a:avLst/>
              <a:gdLst/>
              <a:ahLst/>
              <a:cxnLst/>
              <a:rect l="l" t="t" r="r" b="b"/>
              <a:pathLst>
                <a:path w="4768723" h="9767316">
                  <a:moveTo>
                    <a:pt x="0" y="0"/>
                  </a:moveTo>
                  <a:lnTo>
                    <a:pt x="4768723" y="0"/>
                  </a:lnTo>
                  <a:lnTo>
                    <a:pt x="4768723" y="9767316"/>
                  </a:lnTo>
                  <a:lnTo>
                    <a:pt x="0" y="9767316"/>
                  </a:lnTo>
                  <a:close/>
                </a:path>
              </a:pathLst>
            </a:custGeom>
            <a:solidFill>
              <a:srgbClr val="16625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544147" y="248581"/>
            <a:ext cx="3020956" cy="2115457"/>
            <a:chOff x="0" y="0"/>
            <a:chExt cx="4027942" cy="282060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27942" cy="2820609"/>
            </a:xfrm>
            <a:custGeom>
              <a:avLst/>
              <a:gdLst/>
              <a:ahLst/>
              <a:cxnLst/>
              <a:rect l="l" t="t" r="r" b="b"/>
              <a:pathLst>
                <a:path w="4027942" h="2820609">
                  <a:moveTo>
                    <a:pt x="0" y="0"/>
                  </a:moveTo>
                  <a:lnTo>
                    <a:pt x="4027942" y="0"/>
                  </a:lnTo>
                  <a:lnTo>
                    <a:pt x="4027942" y="2820609"/>
                  </a:lnTo>
                  <a:lnTo>
                    <a:pt x="0" y="28206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625"/>
              <a:ext cx="4027942" cy="277298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r">
                <a:lnSpc>
                  <a:spcPts val="2160"/>
                </a:lnSpc>
              </a:pPr>
              <a:r>
                <a:rPr lang="en-US" sz="2250" b="1" spc="-44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Riproducibilità, analisi comparativa e stabilità dei modelli neurali per la generazione automatica di messaggi di commit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20263" y="6048885"/>
            <a:ext cx="5447768" cy="1102529"/>
            <a:chOff x="0" y="0"/>
            <a:chExt cx="7263690" cy="14700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263691" cy="1470038"/>
            </a:xfrm>
            <a:custGeom>
              <a:avLst/>
              <a:gdLst/>
              <a:ahLst/>
              <a:cxnLst/>
              <a:rect l="l" t="t" r="r" b="b"/>
              <a:pathLst>
                <a:path w="7263691" h="1470038">
                  <a:moveTo>
                    <a:pt x="0" y="0"/>
                  </a:moveTo>
                  <a:lnTo>
                    <a:pt x="7263691" y="0"/>
                  </a:lnTo>
                  <a:lnTo>
                    <a:pt x="7263691" y="1470038"/>
                  </a:lnTo>
                  <a:lnTo>
                    <a:pt x="0" y="1470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263690" cy="15081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3" tooltip="mailto:email@studenti.unisa.it"/>
                </a:rPr>
                <a:t>v.annunziata17@studenti.unisa.it</a:t>
              </a:r>
            </a:p>
            <a:p>
              <a:pPr algn="r">
                <a:lnSpc>
                  <a:spcPts val="1944"/>
                </a:lnSpc>
              </a:pPr>
              <a:r>
                <a:rPr lang="en-US" sz="1350" b="1" u="sng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4" tooltip="https://github.com/valered"/>
                </a:rPr>
                <a:t>email@studenti.unisa.it</a:t>
              </a:r>
            </a:p>
            <a:p>
              <a:pPr algn="r">
                <a:lnSpc>
                  <a:spcPts val="1944"/>
                </a:lnSpc>
              </a:pPr>
              <a:r>
                <a:rPr lang="en-US" sz="1350" b="1" u="sng">
                  <a:solidFill>
                    <a:srgbClr val="000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://www.linkedin.com/in/v-annunziata"/>
                </a:rPr>
                <a:t>www.linkedin.com/in/v-annunziata</a:t>
              </a:r>
            </a:p>
            <a:p>
              <a:pPr algn="r">
                <a:lnSpc>
                  <a:spcPts val="1944"/>
                </a:lnSpc>
              </a:pPr>
              <a:endParaRPr lang="en-US" sz="1350" b="1" u="sng">
                <a:solidFill>
                  <a:srgbClr val="0000FF"/>
                </a:solidFill>
                <a:latin typeface="Helvetica World Bold"/>
                <a:ea typeface="Helvetica World Bold"/>
                <a:cs typeface="Helvetica World Bold"/>
                <a:sym typeface="Helvetica World Bold"/>
                <a:hlinkClick r:id="rId5" tooltip="http://www.linkedin.com/in/v-annunziata"/>
              </a:endParaRPr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9365029" y="6365510"/>
            <a:ext cx="200075" cy="200075"/>
            <a:chOff x="0" y="0"/>
            <a:chExt cx="266766" cy="266766"/>
          </a:xfrm>
        </p:grpSpPr>
        <p:sp>
          <p:nvSpPr>
            <p:cNvPr id="11" name="Freeform 11" descr="world-wide-web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9365029" y="6111819"/>
            <a:ext cx="200075" cy="200075"/>
            <a:chOff x="0" y="0"/>
            <a:chExt cx="266766" cy="266766"/>
          </a:xfrm>
        </p:grpSpPr>
        <p:sp>
          <p:nvSpPr>
            <p:cNvPr id="13" name="Freeform 13" descr="email.png"/>
            <p:cNvSpPr/>
            <p:nvPr/>
          </p:nvSpPr>
          <p:spPr>
            <a:xfrm>
              <a:off x="0" y="0"/>
              <a:ext cx="266827" cy="266827"/>
            </a:xfrm>
            <a:custGeom>
              <a:avLst/>
              <a:gdLst/>
              <a:ahLst/>
              <a:cxnLst/>
              <a:rect l="l" t="t" r="r" b="b"/>
              <a:pathLst>
                <a:path w="266827" h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2" b="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351232" y="5410200"/>
            <a:ext cx="3266163" cy="619278"/>
            <a:chOff x="0" y="0"/>
            <a:chExt cx="4354883" cy="82570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54883" cy="825705"/>
            </a:xfrm>
            <a:custGeom>
              <a:avLst/>
              <a:gdLst/>
              <a:ahLst/>
              <a:cxnLst/>
              <a:rect l="l" t="t" r="r" b="b"/>
              <a:pathLst>
                <a:path w="4354883" h="825705">
                  <a:moveTo>
                    <a:pt x="0" y="0"/>
                  </a:moveTo>
                  <a:lnTo>
                    <a:pt x="4354883" y="0"/>
                  </a:lnTo>
                  <a:lnTo>
                    <a:pt x="4354883" y="825705"/>
                  </a:lnTo>
                  <a:lnTo>
                    <a:pt x="0" y="8257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47625"/>
              <a:ext cx="4354883" cy="77808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r">
                <a:lnSpc>
                  <a:spcPts val="2160"/>
                </a:lnSpc>
              </a:pPr>
              <a:r>
                <a:rPr lang="en-US" sz="2250" b="1" spc="-44" dirty="0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Valentina Annunziata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34204" y="6241756"/>
            <a:ext cx="3586059" cy="622802"/>
            <a:chOff x="0" y="0"/>
            <a:chExt cx="4781412" cy="83040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781412" cy="830403"/>
            </a:xfrm>
            <a:custGeom>
              <a:avLst/>
              <a:gdLst/>
              <a:ahLst/>
              <a:cxnLst/>
              <a:rect l="l" t="t" r="r" b="b"/>
              <a:pathLst>
                <a:path w="4781412" h="830403">
                  <a:moveTo>
                    <a:pt x="0" y="0"/>
                  </a:moveTo>
                  <a:lnTo>
                    <a:pt x="4781412" y="0"/>
                  </a:lnTo>
                  <a:lnTo>
                    <a:pt x="4781412" y="830403"/>
                  </a:lnTo>
                  <a:lnTo>
                    <a:pt x="0" y="8304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4781412" cy="820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025"/>
                </a:lnSpc>
              </a:pPr>
              <a:r>
                <a:rPr lang="en-US" sz="1875" dirty="0">
                  <a:solidFill>
                    <a:srgbClr val="41D87B"/>
                  </a:solidFill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  <a:sym typeface="Helvetica World"/>
                </a:rPr>
                <a:t>Questa </a:t>
              </a:r>
              <a:r>
                <a:rPr lang="en-US" sz="1875" dirty="0" err="1">
                  <a:solidFill>
                    <a:srgbClr val="41D87B"/>
                  </a:solidFill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  <a:sym typeface="Helvetica World"/>
                </a:rPr>
                <a:t>tesi</a:t>
              </a:r>
              <a:r>
                <a:rPr lang="en-US" sz="1875" dirty="0">
                  <a:solidFill>
                    <a:srgbClr val="41D87B"/>
                  </a:solidFill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  <a:sym typeface="Helvetica World"/>
                </a:rPr>
                <a:t> ha </a:t>
              </a:r>
              <a:r>
                <a:rPr lang="en-US" sz="1875" dirty="0" err="1">
                  <a:solidFill>
                    <a:srgbClr val="41D87B"/>
                  </a:solidFill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  <a:sym typeface="Helvetica World"/>
                </a:rPr>
                <a:t>contribuito</a:t>
              </a:r>
              <a:r>
                <a:rPr lang="en-US" sz="1875" dirty="0">
                  <a:solidFill>
                    <a:srgbClr val="41D87B"/>
                  </a:solidFill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  <a:sym typeface="Helvetica World"/>
                </a:rPr>
                <a:t> a </a:t>
              </a:r>
              <a:r>
                <a:rPr lang="en-US" sz="1875" dirty="0" err="1">
                  <a:solidFill>
                    <a:srgbClr val="41D87B"/>
                  </a:solidFill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  <a:sym typeface="Helvetica World"/>
                </a:rPr>
                <a:t>piantare</a:t>
              </a:r>
              <a:r>
                <a:rPr lang="en-US" sz="1875" dirty="0">
                  <a:solidFill>
                    <a:srgbClr val="41D87B"/>
                  </a:solidFill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  <a:sym typeface="Helvetica World"/>
                </a:rPr>
                <a:t> un </a:t>
              </a:r>
              <a:r>
                <a:rPr lang="en-US" sz="1875" dirty="0" err="1">
                  <a:solidFill>
                    <a:srgbClr val="41D87B"/>
                  </a:solidFill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  <a:sym typeface="Helvetica World"/>
                </a:rPr>
                <a:t>albero</a:t>
              </a:r>
              <a:r>
                <a:rPr lang="en-US" sz="1875" dirty="0">
                  <a:solidFill>
                    <a:srgbClr val="41D87B"/>
                  </a:solidFill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  <a:sym typeface="Helvetica World"/>
                </a:rPr>
                <a:t> in </a:t>
              </a:r>
              <a:r>
                <a:rPr lang="it-IT" b="1" dirty="0">
                  <a:solidFill>
                    <a:srgbClr val="41D87B"/>
                  </a:solidFill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Tanzania</a:t>
              </a:r>
              <a:endParaRPr lang="en-US" sz="1875" dirty="0">
                <a:solidFill>
                  <a:srgbClr val="41D87B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724986" y="4640377"/>
            <a:ext cx="2306009" cy="622802"/>
            <a:chOff x="0" y="0"/>
            <a:chExt cx="3074679" cy="83040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074679" cy="830403"/>
            </a:xfrm>
            <a:custGeom>
              <a:avLst/>
              <a:gdLst/>
              <a:ahLst/>
              <a:cxnLst/>
              <a:rect l="l" t="t" r="r" b="b"/>
              <a:pathLst>
                <a:path w="3074679" h="830403">
                  <a:moveTo>
                    <a:pt x="0" y="0"/>
                  </a:moveTo>
                  <a:lnTo>
                    <a:pt x="3074679" y="0"/>
                  </a:lnTo>
                  <a:lnTo>
                    <a:pt x="3074679" y="830403"/>
                  </a:lnTo>
                  <a:lnTo>
                    <a:pt x="0" y="8304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3074679" cy="820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25"/>
                </a:lnSpc>
              </a:pPr>
              <a:r>
                <a:rPr lang="en-US" sz="1875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Sostituisci la foto con il tuo albero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741257" y="4151370"/>
            <a:ext cx="885538" cy="364897"/>
            <a:chOff x="0" y="0"/>
            <a:chExt cx="1180717" cy="48653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80717" cy="486530"/>
            </a:xfrm>
            <a:custGeom>
              <a:avLst/>
              <a:gdLst/>
              <a:ahLst/>
              <a:cxnLst/>
              <a:rect l="l" t="t" r="r" b="b"/>
              <a:pathLst>
                <a:path w="1180717" h="486530">
                  <a:moveTo>
                    <a:pt x="0" y="0"/>
                  </a:moveTo>
                  <a:lnTo>
                    <a:pt x="1180717" y="0"/>
                  </a:lnTo>
                  <a:lnTo>
                    <a:pt x="1180717" y="486530"/>
                  </a:lnTo>
                  <a:lnTo>
                    <a:pt x="0" y="4865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9525"/>
              <a:ext cx="1180717" cy="477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25"/>
                </a:lnSpc>
              </a:pPr>
              <a:r>
                <a:rPr lang="en-US" sz="1875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Grazie!</a:t>
              </a:r>
            </a:p>
          </p:txBody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274614" y="5291844"/>
            <a:ext cx="2196057" cy="866990"/>
            <a:chOff x="0" y="0"/>
            <a:chExt cx="2928076" cy="1155987"/>
          </a:xfrm>
        </p:grpSpPr>
        <p:sp>
          <p:nvSpPr>
            <p:cNvPr id="29" name="Freeform 29" descr="Immagine"/>
            <p:cNvSpPr/>
            <p:nvPr/>
          </p:nvSpPr>
          <p:spPr>
            <a:xfrm>
              <a:off x="0" y="0"/>
              <a:ext cx="2928112" cy="1155954"/>
            </a:xfrm>
            <a:custGeom>
              <a:avLst/>
              <a:gdLst/>
              <a:ahLst/>
              <a:cxnLst/>
              <a:rect l="l" t="t" r="r" b="b"/>
              <a:pathLst>
                <a:path w="2928112" h="1155954">
                  <a:moveTo>
                    <a:pt x="0" y="0"/>
                  </a:moveTo>
                  <a:lnTo>
                    <a:pt x="2928112" y="0"/>
                  </a:lnTo>
                  <a:lnTo>
                    <a:pt x="2928112" y="1155954"/>
                  </a:lnTo>
                  <a:lnTo>
                    <a:pt x="0" y="1155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36" r="-335" b="-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pic>
        <p:nvPicPr>
          <p:cNvPr id="42" name="Immagine 41">
            <a:extLst>
              <a:ext uri="{FF2B5EF4-FFF2-40B4-BE49-F238E27FC236}">
                <a16:creationId xmlns:a16="http://schemas.microsoft.com/office/drawing/2014/main" id="{01C90D7B-877B-7DAA-E95F-4FF40A3E1D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613" y="2523444"/>
            <a:ext cx="2556147" cy="1917110"/>
          </a:xfrm>
          <a:prstGeom prst="rect">
            <a:avLst/>
          </a:prstGeom>
        </p:spPr>
      </p:pic>
      <p:pic>
        <p:nvPicPr>
          <p:cNvPr id="43" name="Immagine 42">
            <a:extLst>
              <a:ext uri="{FF2B5EF4-FFF2-40B4-BE49-F238E27FC236}">
                <a16:creationId xmlns:a16="http://schemas.microsoft.com/office/drawing/2014/main" id="{A84C0E64-A4BC-1178-F67D-3115700CEC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27586" y="2525743"/>
            <a:ext cx="2543051" cy="1907288"/>
          </a:xfrm>
          <a:prstGeom prst="rect">
            <a:avLst/>
          </a:prstGeom>
        </p:spPr>
      </p:pic>
      <p:grpSp>
        <p:nvGrpSpPr>
          <p:cNvPr id="38" name="Group 38"/>
          <p:cNvGrpSpPr>
            <a:grpSpLocks noChangeAspect="1"/>
          </p:cNvGrpSpPr>
          <p:nvPr/>
        </p:nvGrpSpPr>
        <p:grpSpPr>
          <a:xfrm>
            <a:off x="9355502" y="6619200"/>
            <a:ext cx="219129" cy="219129"/>
            <a:chOff x="0" y="0"/>
            <a:chExt cx="292172" cy="292172"/>
          </a:xfrm>
        </p:grpSpPr>
        <p:sp>
          <p:nvSpPr>
            <p:cNvPr id="39" name="Freeform 39" descr="linkedin(1).png"/>
            <p:cNvSpPr/>
            <p:nvPr/>
          </p:nvSpPr>
          <p:spPr>
            <a:xfrm>
              <a:off x="0" y="0"/>
              <a:ext cx="292227" cy="292227"/>
            </a:xfrm>
            <a:custGeom>
              <a:avLst/>
              <a:gdLst/>
              <a:ahLst/>
              <a:cxnLst/>
              <a:rect l="l" t="t" r="r" b="b"/>
              <a:pathLst>
                <a:path w="292227" h="292227">
                  <a:moveTo>
                    <a:pt x="0" y="0"/>
                  </a:moveTo>
                  <a:lnTo>
                    <a:pt x="292227" y="0"/>
                  </a:lnTo>
                  <a:lnTo>
                    <a:pt x="292227" y="292227"/>
                  </a:lnTo>
                  <a:lnTo>
                    <a:pt x="0" y="292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r="18" b="18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pic>
        <p:nvPicPr>
          <p:cNvPr id="40" name="Immagine 39">
            <a:extLst>
              <a:ext uri="{FF2B5EF4-FFF2-40B4-BE49-F238E27FC236}">
                <a16:creationId xmlns:a16="http://schemas.microsoft.com/office/drawing/2014/main" id="{178EABA2-F590-989A-DE73-1DFDF06913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7712" y="397235"/>
            <a:ext cx="2562701" cy="1922026"/>
          </a:xfrm>
          <a:prstGeom prst="rect">
            <a:avLst/>
          </a:prstGeom>
        </p:spPr>
      </p:pic>
      <p:pic>
        <p:nvPicPr>
          <p:cNvPr id="41" name="Immagine 40">
            <a:extLst>
              <a:ext uri="{FF2B5EF4-FFF2-40B4-BE49-F238E27FC236}">
                <a16:creationId xmlns:a16="http://schemas.microsoft.com/office/drawing/2014/main" id="{AA2D45F7-4704-3AE9-0860-7D7F0C3F9AA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33102" y="401145"/>
            <a:ext cx="2537535" cy="1903151"/>
          </a:xfrm>
          <a:prstGeom prst="rect">
            <a:avLst/>
          </a:prstGeom>
        </p:spPr>
      </p:pic>
      <p:pic>
        <p:nvPicPr>
          <p:cNvPr id="45" name="Immagine 44" descr="Immagine che contiene albero, pianta, aria aperta, fiore&#10;&#10;Il contenuto generato dall'IA potrebbe non essere corretto.">
            <a:extLst>
              <a:ext uri="{FF2B5EF4-FFF2-40B4-BE49-F238E27FC236}">
                <a16:creationId xmlns:a16="http://schemas.microsoft.com/office/drawing/2014/main" id="{6CC4BCBD-B755-7A42-13BB-9F4AEFDAC70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70899" y="4788564"/>
            <a:ext cx="2253863" cy="20980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1575</Words>
  <Application>Microsoft Office PowerPoint</Application>
  <PresentationFormat>Personalizzato</PresentationFormat>
  <Paragraphs>305</Paragraphs>
  <Slides>23</Slides>
  <Notes>23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29" baseType="lpstr">
      <vt:lpstr>Helvetica World</vt:lpstr>
      <vt:lpstr>Helvetica World Bold Italics</vt:lpstr>
      <vt:lpstr>Calibri</vt:lpstr>
      <vt:lpstr>Helvetica World Bold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presentazioneAnnunziata</dc:title>
  <cp:lastModifiedBy>VALENTINA ANNUNZIATA</cp:lastModifiedBy>
  <cp:revision>3</cp:revision>
  <dcterms:created xsi:type="dcterms:W3CDTF">2006-08-16T00:00:00Z</dcterms:created>
  <dcterms:modified xsi:type="dcterms:W3CDTF">2025-12-17T19:30:15Z</dcterms:modified>
  <dc:identifier>DAG67xf8_VU</dc:identifier>
</cp:coreProperties>
</file>